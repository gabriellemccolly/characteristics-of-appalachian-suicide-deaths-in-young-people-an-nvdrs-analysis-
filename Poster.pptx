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89_E0C945A5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93" r:id="rId2"/>
  </p:sldIdLst>
  <p:sldSz cx="43891200" cy="3291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13AB58-9369-7155-43D1-0E843189661A}" name="Meyers, Margaret Veselinova" initials="MM" userId="S::veselin_unc.edu#ext#@nationwidechildrens.onmicrosoft.com::50a3b215-ab7c-4f9e-8d34-b0715337735e" providerId="AD"/>
  <p188:author id="{8A78578B-7060-E4A2-0B75-390FD069A8AC}" name="Steelesmith, Danielle" initials="SD" userId="S::danielle.steelesmith@nationwidechildrens.org::f9d49462-70cf-4d1d-b6bb-255e04d4a08a" providerId="AD"/>
  <p188:author id="{A10EA0BC-7B23-44EE-4A2D-4E774EC82D10}" name="jackdoyle2580" initials="ja" userId="S::jackdoyle2580_gmail.com#ext#@nationwidechildrens.onmicrosoft.com::79e1d7a6-caca-4aeb-8ffc-e540f55ed4ee" providerId="AD"/>
  <p188:author id="{4F55E1CF-CBC2-8DD8-DBB6-CD5348A4FF16}" name="McColly, Gabrielle" initials="MG" userId="S::gabrielle.mccolly@nationwidechildrens.org::19c50f26-784c-4278-937e-f7bd206f044a" providerId="AD"/>
  <p188:author id="{1A1374EE-AC61-D843-4F93-B7E180CB6F0D}" name="Hicks, Reagan" initials="HR" userId="S::reagan.hicks@nationwidechildrens.org::25d5ded8-c0ec-49a8-9c81-bb4e36c603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0E8"/>
    <a:srgbClr val="2F5D3A"/>
    <a:srgbClr val="003262"/>
    <a:srgbClr val="4F6D8A"/>
    <a:srgbClr val="B65F28"/>
    <a:srgbClr val="355E3B"/>
    <a:srgbClr val="056331"/>
    <a:srgbClr val="00853E"/>
    <a:srgbClr val="2F4827"/>
    <a:srgbClr val="0B40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" dt="2026-10-05T16:58:51.154"/>
    <p1510:client id="{1D9758E5-C447-47B2-B6F5-624C49B8FB7E}" v="49" dt="2026-10-05T14:40:23.209"/>
    <p1510:client id="{948785A1-914A-279E-E520-203A65A1148D}" v="212" dt="2026-10-05T18:01:18.622"/>
    <p1510:client id="{98AAE7CF-1087-36AD-0240-9F701E3E210A}" v="80" dt="2026-10-05T14:36:55.471"/>
    <p1510:client id="{BAFAB2C5-5CE8-7FE9-ECAE-6D54E1010D34}" v="2" dt="2026-10-05T18:36:37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comments/modernComment_189_E0C945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9A23BD5-0809-4B5C-95FF-B49F2438D293}" authorId="{1A1374EE-AC61-D843-4F93-B7E180CB6F0D}" status="resolved" created="2026-09-29T19:35:05.74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71286949" sldId="393"/>
      <ac:spMk id="48" creationId="{8199E40C-B241-CA40-3909-AD99EEBC23BA}"/>
      <ac:txMk cp="45">
        <ac:context len="175" hash="1427627857"/>
      </ac:txMk>
    </ac:txMkLst>
    <p188:pos x="14507969" y="2341476"/>
    <p188:replyLst>
      <p188:reply id="{6A14FE17-1F23-4D83-89BB-500D90E321A3}" authorId="{4F55E1CF-CBC2-8DD8-DBB6-CD5348A4FF16}" created="2026-09-29T20:27:42.756">
        <p188:txBody>
          <a:bodyPr/>
          <a:lstStyle/>
          <a:p>
            <a:r>
              <a:rPr lang="en-US"/>
              <a:t>What if we do "distinct characteristics of young Appalachian suicide decedents"? Keeps with the language (using young over youth) and sounds less clunky, I think).</a:t>
            </a:r>
          </a:p>
        </p188:txBody>
      </p188:reply>
      <p188:reply id="{8F54717F-F677-48FC-9310-FFB80CE87D33}" authorId="{1A1374EE-AC61-D843-4F93-B7E180CB6F0D}" created="2026-09-30T12:47:41.683">
        <p188:txBody>
          <a:bodyPr/>
          <a:lstStyle/>
          <a:p>
            <a:r>
              <a:rPr lang="en-US"/>
              <a:t>That sounds great to me!</a:t>
            </a:r>
          </a:p>
        </p188:txBody>
      </p188:reply>
      <p188:reply id="{3932B188-1983-4A1C-B086-5A52007E5DD1}" authorId="{9913AB58-9369-7155-43D1-0E843189661A}" created="2026-09-30T19:19:45.577">
        <p188:txBody>
          <a:bodyPr/>
          <a:lstStyle/>
          <a:p>
            <a:r>
              <a:rPr lang="en-US"/>
              <a:t>Another suggestion -- I wonder if we could have the finding center around Appalachian youth more explicitly
Something like (although shorter than this, this is just something quick I put into ChatGPT): "Appalachian youth who died by suicide were more likely than non-Appalachian youth to live in rural, socioeconomically vulnerable communities and less likely to have documented mental health concerns."
Or maybe: "Appalachian youth who died by suicide differed from non-Appalachian youth across demographic, clinical, and contextual factors, underscoring the importance of regional context in suicide prevention."
Maybe changing the "demographic, clinical, and contextual" wording though</a:t>
            </a:r>
          </a:p>
        </p188:txBody>
      </p188:reply>
      <p188:reply id="{4A1108CC-10B7-47B0-AE35-D665E0049C9F}" authorId="{4F55E1CF-CBC2-8DD8-DBB6-CD5348A4FF16}" created="2026-10-05T16:53:24.294">
        <p188:txBody>
          <a:bodyPr/>
          <a:lstStyle/>
          <a:p>
            <a:r>
              <a:rPr lang="en-US"/>
              <a:t>I changed it reflecting your suggestion. However, I kept young suicide decedents because we are trying to refrain from "youth" due to age. Thanks for the suggestions!</a:t>
            </a:r>
          </a:p>
        </p188:txBody>
      </p188:reply>
    </p188:replyLst>
    <p188:txBody>
      <a:bodyPr/>
      <a:lstStyle/>
      <a:p>
        <a:r>
          <a:rPr lang="en-US"/>
          <a:t>Hmmm I think it needs to be more than just young suicide, but this sounds clunky...</a:t>
        </a:r>
      </a:p>
    </p188:txBody>
  </p188:cm>
  <p188:cm id="{1B73AF9A-F5D4-4863-B620-4B5DDFA568D0}" authorId="{1A1374EE-AC61-D843-4F93-B7E180CB6F0D}" status="resolved" created="2026-09-29T20:17:02.06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71286949" sldId="393"/>
      <ac:picMk id="5" creationId="{2C35FAE5-0FC4-D7FE-8DB1-CEC12BB37DA9}"/>
    </ac:deMkLst>
    <p188:replyLst>
      <p188:reply id="{8C6B689B-1635-4090-A3BC-E674E4D555C9}" authorId="{1A1374EE-AC61-D843-4F93-B7E180CB6F0D}" created="2026-09-29T20:18:23.164">
        <p188:txBody>
          <a:bodyPr/>
          <a:lstStyle/>
          <a:p>
            <a:r>
              <a:rPr lang="en-US"/>
              <a:t>Actually maybe it just took a second to load, it looks better now, but I think it could still be a bit sharper</a:t>
            </a:r>
          </a:p>
        </p188:txBody>
      </p188:reply>
    </p188:replyLst>
    <p188:txBody>
      <a:bodyPr/>
      <a:lstStyle/>
      <a:p>
        <a:r>
          <a:rPr lang="en-US"/>
          <a:t>This graphic is pretty low quality, can @Jack add it directly in as a png?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5T16:58:15.076" authorId="{A10EA0BC-7B23-44EE-4A2D-4E774EC82D10}"/>
          </p223:rxn>
        </p223:reactions>
      </p:ext>
    </p188:extLst>
  </p188:cm>
  <p188:cm id="{898DF8B9-3B76-4AD7-90E0-7B7F9E9985F1}" authorId="{9913AB58-9369-7155-43D1-0E843189661A}" created="2026-09-30T19:23:25.4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71286949" sldId="393"/>
      <ac:spMk id="58" creationId="{4EC0598E-CD03-0DAA-5AB9-E88C28183E1B}"/>
      <ac:txMk cp="0" len="7">
        <ac:context len="8" hash="877788159"/>
      </ac:txMk>
    </ac:txMkLst>
    <p188:pos x="6219400" y="799637"/>
    <p188:replyLst>
      <p188:reply id="{EC534E3C-C5F9-4533-845A-CFEA622B1DCC}" authorId="{4F55E1CF-CBC2-8DD8-DBB6-CD5348A4FF16}" created="2026-10-05T17:42:32.247">
        <p188:txBody>
          <a:bodyPr/>
          <a:lstStyle/>
          <a:p>
            <a:r>
              <a:rPr lang="en-US"/>
              <a:t>How big of a deal do you think this is? I can't seem to expand the boxes :/</a:t>
            </a:r>
          </a:p>
        </p188:txBody>
      </p188:reply>
    </p188:replyLst>
    <p188:txBody>
      <a:bodyPr/>
      <a:lstStyle/>
      <a:p>
        <a:r>
          <a:rPr lang="en-US"/>
          <a:t>I think we have room to expand the left and right columns horizontally a little bit, just so we can have the text/images a little larger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3:36.6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1103 0 9830,'115'0'273,"131"0"0,131 333 113,99 95-113,98-47 0,-66-381 1,-328 428 498,-409 428-162,-263 714-726,-262 380-1,-1 476 12,18 429-11,130-239 116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5:38.7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7231 6738 12746,'0'-6699'0,"-7225"6699"0,10684 6699 0,307-6699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5:50.1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 41 8542,'4676'2533'0,"-4462"-5066"0,-5104 2533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6:46.2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7706 14487,'3549'1482'0,"-3549"-10660"0,-3549 12256 0,3549 1540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6:50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3771 14060 14944,'0'-14043'0,"-3753"41717"0,7506-41305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7:02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3958 19549 14439,'0'-19543'0,"-3948"19543"0,7896 19543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7:04.8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13991 9830,'0'-255'328,"0"-341"-1,0-597 329,0-340-329,0-85 1,0-170 0,0 85-1,0-1 1,735 342 0,735 84-1,0 341-327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7:17.4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2524 1457 9830,'-105'13051'1311,"-104"-14641"-172,-211-2852 0,316 2907-324,-36 54 0,-349-2193 0,279 2577-378,70 439 156,106 1865-680,68 20618-1809,-68-25225 3512,-421-5155 0,316 7020-1200,104 1151 393,35 1645-801,35 15958-2317,-70-18206 2627,35 165-87,-35-56 0,70 56 0,0-1 0,35 0 0,-1 1 0,36-1 1,35 1-1,279-1152 0,280-1646 836,-629 3072-841,-1-55 1,36 54-1,35-54 0,0 55 1,-1 0-1,350-933 0,-489 1481-215,0 0 0,35 0 0,-35 0 0,0 0 0,0-55 0,0 55 0,0 0 0,0 0 0,0 0 0,0 0 0,0 0 0,0 0 0,0 0-1,0 0 1,35 0 0,-35-55 0,0 55 0,0 0 0,0 0 0,0 0 0,0 0 0,0 0 0,35 0 0,-35 0 0,0 0 0,0 0 0,0 0 0,0 0 0,0 0-1,0 0 1,35 0 0,-35 0 0,0 0 0,0 0 0,0 0 0,0 0 0,0 0 0,0 0 0,0 0 0,35 0 0,-35 55 0,0-55 0,0 0 0,0 0 0,0 0-1,0 0 1,0 0 0,0 0 0,0 0 0,35 0 0,-35 0 0,0 55 0,0-55 0,0 0 0,0 0 0,0 0 0,0 0 0,0 0 0,140 713-71,-35 822-346,-140 12175-2380,35-23581 4685,70 12942-2534,-1-2084 393,-34 0-1,0 0 0,-70 0 1,0 0-1,-34 0 1,-246 1590-1,315-2577 251,0 0-1,0 0 1,0 0 0,0-54-1,0 54 1,0 0 0,-35 0-1,35 0 1,0 0 0,0 0-1,0 0 1,0 0 0,0 0-1,0 0 1,0 0-1,0 0 1,-35 0 0,35 0-1,0 0 1,0 0 0,0 0-1,0 0 1,0 0 0,0 0-1,-35 0 1,35 0 0,0 0-1,0 0 1,0 0 0,0 0-1,0 0 1,0 0 0,0 0-1,-35 0 1,35 0 0,0 0-1,0 0 1,0 0 0,0 0-1,0 0 1,0 0-1,0 54 1,0-54 0,0 0-1,-35 0 1,35 0 0,0 0-1,0 0 1,0 0 0,0 0-1,0 0 1,0 55 0,0-55-1,0 0 1,0 0 0,0 0-1,0 0 1,0 0 0,0 0-1,0 0 1,0 55 0,0-55-1,0 0 1,0 0 0,0 0-1,0 0 1,-104-822 331,-1-1098 114,140-109 93,279-2961-1,-34 1426 64,-315 9486-1482,70-3070 432,-35-2304 480,0-932 274,0-2413 65,0 1536-451,0 3564-475,0-1919 418,0 932 82,0-1206 200,0-878 73,0-438-22,-35 658-100,35-56 1,0 56-1,35 0 1,0-1-1,0-54 1,139-549-1,-174 1152-97,0-54 0,0 54 0,0 0 0,0 0 0,0 0-1,0 0 1,0-55 0,0 55 0,0 0 0,0 0 0,0 0 0,0 0 0,0-55 0,0 55-1,0 0 1,0 0 0,0 0 0,0 0 0,0-55 0,0 55 0,0 0 0,0 0 0,0 0 0,0 0-1,0 0 1,35-55 0,-35 55 0,0 0 0,0 0 0,0 0 0,0 0 0,0 0 0,0 0-1,35 0 1,-35 0 0,0-55 0,0 55 0,0 0 0,0 0 0,0 0 0,35 0 0,-35 0-1,0 0 1,0 0 0,0 0 0,0 0 0,35 0 0,-35 0 0,0 0 0,0 0 0,0 0 0,0 0-1,35 0 1,-35 0 0,0 0 0,0 0 0,0 55 0,0-55 0,35 0 0,-35 0 0,0 0-1,0 0 1,0 0 0,0 0 0,0 0 0,0 0 0,35 55 0,35 274 19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8:06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2467 12 9830,'-68'776'0,"-32"40"0,-1 1 0,-34-42 0,-33 1 0,-34-1 0,-302 735 0,302-898 0,0 1 0,0-1 0,68 41 0,-1-41 0,34 41 0,0 0 0,34 0 0,33 1 0,68 1141 0,807-4080 2224,1917-6858 1681,-2724 11918-3959,-68 572-376,34-2367 393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7:24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6 876 9830,'46'2508'0,"45"-61"0,47 0 0,298 2753 0,69 1224 0,-505-6424 8,0 0-1,0 61 1,0-61 0,-23 0 0,23 61-1,0-61 1,0 62 0,0-62-1,0 0 1,0 61 0,23-61-1,-23 0 1,0 61 0,0-61 0,0 61-1,0-61 1,0 0 0,0 61-1,23-61 1,-23 0 0,0 61-1,0-61 1,0 0 0,23 0-1,-23 62 1,0-62 0,0 0 0,23 0-1,-23 61 1,0-61 0,23 0-1,-23 0 1,0 0 0,23 61-1,-23-61 1,0 0 0,23 0 0,-23 0-1,0 0 1,23 0 0,229-856 720,92-1714 664,184-3303 601,620-5384 1014,-1332 14989-2812,138-1529-393,-688 8319-1068,619-9237 1243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7:26.9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163 297 9830,'0'-207'328,"0"137"-1,0 486-348,0 623-1,0 278 11,0 415-11,0 209 0,0 137 11,1103-207-4,367 69-7,-368-346 22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7:27.8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34410 9830,'125'-3320'2542,"586"-4462"0,-43 762-533,-459 5170-738,669-3320 0,-544 3809-466,-83-108 1,-42 54 0,125-2776-1,-334 3375-750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8:22.3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3114 30520 9830,'-36'-3582'2220,"72"-3985"-180,140 6411-1104,0 2023-455,71 1906-637,-247-1098-44,0-57-1,-106 57 0,-246 2369 1,281-3062 81,1 0 66,34-1675 641,72-7337 2551,-72 9936-3528,-34 0-1,-389 3063 1,354-10284 2268,105 5315-1860,35 0-1,-35-58 1,0 58-1,0-58 0,0 58 1,0-57-1,0 57 1,0-58-1,0 58 0,0 0 1,0-58-1,0 58 1,0-58-1,0 58 1,0-57-1,-35 57 0,35-58 1,0 58-1,0 0 1,0-58-1,0 58 0,-36-58 1,36 58-1,0 0 1,-35-58-1,35 58 0,0 0 1,-35-57-1,35 57 1,0 0-1,-35 0 0,35-58 1,0 58-1,-36 0 1,36 0-1,-35 0 1,0-58-1,-388 867-190,-283 1559-329,565-1097 366,141-982 136,-35-58 0,35 58 0,-35 0 1,-1-58-1,1 58 0,-35-58 0,34 58 0,-34-58 1,-1 0-1,-140 404 0,140-808 96,36 0 0,-36-58-1,36 0 1,0 57 0,35-57-1,-36 0 1,36 58 0,-35-58-1,35-347 1,141-2946 797,459-4217 1,-71 1156 369,106 1674-96,-36 637-389,-140 230-3,-389 3120-745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9:01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2941 14937 9830,'0'-14624'6018,"0"22854"-6867,0-4737 662,0-2664 356,0-888 252,0-4915 1052,0 5034-1192,0 2130-507,0 4619-469,779-11013 2131,-751 4500-1430,28 0-1,-28 0 1,-1 0-1,1 0 1,0 0-1,0 533 1,55 711-231,84-2073 565,251-2724 648,-335 2369-951,-27 770 327,-29 532-223,57 1599-313,-28 2546-495,-84-3019 458,28-1659 422,0-2663 608,0 1301-655,55-2249 474,1 2191-294,-56 59 0,0-59 0,-28 58-1,-55-58 1,-223-2013 0,306 3492-325,0 1 1,0 0-1,0 0 0,0 0 1,-28-1-1,28 1 1,0 0-1,0 0 0,-28 59 1,28-59-1,-28-1 1,28 1-1,-28 0 0,28 59 1,-27-59-1,-1 0 1,28-1-1,-28 60 1,0-59-1,28 59 0,-28-59 1,0 59-1,1-59 1,27 59-1,-28-59 0,0 59 1,0-60-1,0 60 1,1 0-1,-1 0 0,-28-59 1,0 118-37,1 1-1,-1-1 1,28-59-1,-27 59 1,27 0 0,-28 0-1,1 60 1,27-60 0,0 0-1,-28 60 1,29-60 0,-1 0-1,0 59 1,-56 119 0,-862 3434-600,-55 2842-767,1029-9651 1893,-56-3849 347,-56 6336-500,-55 592-257,-250 1361-406,-223 2132-476,501-2309 603,27-177 142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9:15.3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3651 1831 15651,'-1405'430'0,"754"-2677"0,443 4781 0,-1171-2056 0,2654 622 0,-1457 1482 0,1145-4447 0,312 3013 0,-1952-3443 0,1666 430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9:21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3677 997 11612,'-3650'-980'0,"7300"28643"0,-3650-54346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9:25.9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1491 22965 14766,'3907'-20806'0,"-5365"18670"0,-2469 22997 0,5405-18780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9:35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819 1509 9830,'-404'2210'60,"323"-1948"-30,-40 0-1,81 38 1,-41-38 0,41 38 0,40-38-1,-41 37 1,41 1 0,41 411 0,-41-898 140,0 0 0,40 0 0,-40 37 0,40-37 0,1-1 0,-1 39 0,1-39 0,39 1 0,-39 37 0,40 1 0,121-226 0,566 1761-232,-768-1386 85,40 37 0,-40 1 0,40-1 0,-40 0 0,41 1 0,-41-38 0,40 37 0,-40 1 0,41-38 0,-41 37 0,40 1 0,0-38 0,1 37 0,-41-37 0,40 38 0,1-38 0,-1 37 0,1-37 0,-41 0 0,40 38 1,0-38-1,1 0 0,-1 37 0,1-37 0,-1 0 0,0 0 0,-40 0 0,41 0 0,-1 0 0,1 0 0,-1 0 0,1 0 0,-1-37 0,0 37 0,1 0 0,-1 0 0,-40-38 0,41 38 0,39-37 0,42-76 109,-42 38 0,42-37 0,-1 0-1,-40-1 1,0 1 0,-1 0 0,163-225 0,-203 898-60,1 113 257,-41-1460 281,0 374-378,-41 0 0,-39 0-1,-1 0 1,0 0-1,-40 0 1,-1 0 0,-39 38-1,-1-38 1,-40 37 0,0 1-1,-485-600 1,566 824-189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19:58.3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6937 13776,'3665'6979'0,"-3665"-20878"0,-3665 20819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0:04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3624 20572 9830,'27'-2971'1630,"0"-848"-520,-54 3091-741,-26 1456-54,-1 181-326,-26-121 0,-1 61 0,-26 0 0,-27-61-1,-322 1516 1,456-2304 21,0 0 1,0 0-1,0 0 0,0 0 0,0 60 0,0-60 1,0 0-1,0 0 0,-26 0 0,26 0 1,0 0-1,0 0 0,0 0 0,0 0 0,0 0 1,0 61-1,0-61 0,0 0 0,-27 0 0,27 0 1,0 0-1,0 0 0,0 0 0,0 0 0,0 0 1,0 0-1,-27 0 0,27 0 0,0 0 0,0 0 1,0 0-1,0 0 0,0 0 0,0 0 0,-27 0 1,27 0-1,0 0 0,0 0 0,0 0 1,0 0-1,0 0 0,0-61 0,0 61 0,-27 0 1,27 0-1,0 0 0,0 0 0,0 0 0,0 0 1,0 0-1,0 0 0,0 0 0,0-60 0,0 60 1,0 0-1,0 0 0,0 0 0,-26 0 0,26 0 1,0-61-1,-134-788 331,-27-788 96,161 1637-434,-349-3880 1748,-79 0 0,-885-5457 1,1179 8731-1707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0:08.4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11867 11256 9830,'-660'-1098'454,"332"0"0,-332-2 0,-328 2 0,-3 84 0,-2633-1689 0,-332-423 370,3296 12842-1013,660 6845-511,0-15294 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0:23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1420 26500 9830,'-77'-586'309,"25"66"-1,-25-66 1,-27 66-1,27-1 0,-26 1 1,-26 64-1,25-64 1,-25 64-1,-207-585 1,311 1041-301,-1 65 0,26-65 0,-26 66 0,26-66 0,-26 65 0,26-65 0,-26 65 0,26-65 0,0 65 0,-26 0-1,26-65 1,-25 65 0,25 0 0,0-65 0,0 65 0,0 0 0,-26-65 0,26 65 0,0 0 0,0 0 0,0-65 0,0 65 0,0 0 0,0 0 0,0-65 0,0 65 0,26 66 0,-78 1690-131,78 1823 131,0-3384 503,-26-2277 134,51-260 269,27 0-1,335-3514 0,-26 781 523,-387 4880-1379,0-65 1,0 65-1,26 0 0,-26 0 0,26-1 1,-26 1-1,26 0 0,0 0 0,-1 0 1,1 0-1,0 0 0,52-196 0,51 652 79,-78 1040-384,-77 846-217,-51 0 1,-26-65 0,-336 3254-1,206-2604 70,311-6961 1725,-104 2993-1037,52-65-1,0 65 1,103-1497 0,51 1042 172,1 64 0,26-64 0,51 129 0,0-64 0,26 129 0,52-64 1,542-1822-1,-878 3253-462,0 65 1,0 0-1,0 0 1,0-66-1,0 66 1,0 0-1,0 0 1,0 0-1,26-65 0,-26 65 1,0 0-1,0 0 1,0 0-1,0-65 1,0 65-1,26 0 1,-26 0-1,0 0 1,0 0-1,0 0 1,26-65-1,-26 65 1,0 0-1,0 0 1,0 0-1,25 0 1,-25 0-1,0 0 1,0 0-1,26 0 1,-26 0-1,0 0 1,0 0-1,26 0 1,-26 0-1,0 0 1,0 0-1,0 0 1,26 0-1,-26 0 1,0 0-1,0 0 1,26 0-1,-26 65 1,0-65-1,0 0 1,0 0-1,26 0 1,-26 0-1,0 0 1,0 65-1,0-65 1,77 1172-253,-206 1430-390,-155 1562-226,258-3188 827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0:29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2247 9830,'921'2004'306,"-863"-1271"-310,0-541 9,-58 40 0,0-40 0,57 40 0,1-40 0,57 40 0,58 230 0,57-732 330,-57 0 0,-58-38 1,58 38-1,-58 0 0,115-578 1,-230 848-332,1037-4047 1880,-807 3623-1830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0:33.6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1197 30 9830,'0'321'0,"0"428"0,0 428 0,0 321 0,0 214 0,0-536 0,0-748 328,0-749-1,0-641 1,0-215-328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0:44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1517 5628 9830,'0'4940'901,"0"-4440"-554,0-687-28,0-2502 80,85-1063 717,-68 3502-1006,0 0-1,-1-63 0,1 63 1,0 0-1,17-1 1,0 1-1,0 0 1,0 0-1,0 0 1,0 0-1,68-188 1,-85 438-104,-17 63 0,17-63 1,-17 62-1,17-62 0,-17 63 1,17-1-1,-17-62 1,17 63-1,-17-63 0,17 62 1,-17 1-1,0-1 1,17-62-1,-17 63 0,0-1 1,0 1-1,0-63 1,0 63-1,17-1 0,-17 1 1,0-63-1,0 62 0,0 1 1,-17-1-1,17-62 1,0 125-1,34 1689-166,-34-1627 172,0 1 1,0-1-1,0 1 0,-17-63 0,17 63 0,-17-1 0,0 1 0,17-63 0,-17 63 1,0-1-1,-51 188 0,68-375-2,0 0 0,0 0 0,0 0 0,0 0-1,0 0 1,0 63 0,0-63 0,-17 0 0,17 0 0,0 0 0,0 0 0,0 0 0,0 0 0,0 0 0,-17 0 0,17 0 0,0 0 0,0 0 0,0 0-1,0 0 1,-17 0 0,17 0 0,0 0 0,0 0 0,0 0 0,0 0 0,0 0 0,-17 0 0,17 0 0,0 0 0,0 0 0,0 0 0,0-63 0,0 63-1,-17 0 1,17 0 0,0 0 0,0 0 0,0 0 0,0 0 0,0 0 0,0-62 0,0 62 0,0 0 0,-17 0 0,17 0 0,0 0 0,0 0 0,0-63-1,0 63 1,0 0 0,0 0 0,-68-1500 445,51 1249-369,17-61-1,0 62 1,0-63-1,17 63 1,-17 0 0,17-63-1,0 63 1,0 0-1,17-63 1,-17 63 0,51-250-1,-51 750-107,17 0 0,-17 0 0,0 63 0,0-63 0,0 0 0,0 63 0,-17-63 0,0 375 1,51 501 336,67-1439 59,205-2376 360,-153 1251-391,-170 1375-329,0 1-1,17 62 1,-17-63-1,0 1 1,17 62-1,-17-63 1,17 1-1,-17 62 1,16-63 0,-16 63-1,17-62 1,-17 62-1,17-63 1,0 63-1,-17-62 1,17 62-1,0-63 1,-17 63-1,17 0 1,0 0-1,-17-62 1,17 62-1,0 0 1,0 0-1,-17 0 1,17 0-1,0-63 1,0 63-1,-17 63 1,17-63-1,0 0 1,0 0-1,0 0 1,-17 0-1,17 0 1,0 62-1,-17-62 1,17 0-1,0 63 1,0-63 0,-17 0-1,17 62 1,-17-62-1,17 63 1,0-63-1,-17 62 1,17-62-1,-17 63 1,17-63-1,-17 62 1,17 1-1,-17-63 1,0 62-1,17 1 1,-17 62-1,237 1563 311,-237-1688-304,-17-62 0,17 62 0,0-63 0,-17 63 0,17-62 0,-17 62 1,17 0-1,-17-63 0,17 63 0,-17 0 0,17-62 0,-17 62 0,17 0 0,-17 0 0,17-63 0,-17 63 0,1 0 1,16 0-1,-17 0 0,17 0 0,-17 0 0,0 0 0,17 0 0,-17 0 0,17 0 0,-17 0 0,0 0 0,17 0 1,-17 0-1,0 63 0,-289 875 138,-84 1500-599,186 1877-47,221-10068 1446,-17 5691-956,0 62 0,0 0 0,0 0 0,0 0 0,0 0 0,0 0 0,0 0 1,0 0-1,0 0 0,0-63 0,17 63 0,-17 0 0,0 0 0,0 0 0,0 0 0,0 0 0,0 0 0,0 0 0,0 0 0,0-62 0,0 62 0,0 0 0,0 0 0,0 0 1,-17 0-1,17 0 0,0 0 0,0 0 0,0-63 0,0 63 0,0 0 0,0 0 0,0 0 0,0 0 0,0 0 0,0 0 0,0 0 0,0 0 0,0 0 0,-17 0 0,17 0 1,0-63-1,0 63 0,0 0 0,0 0 0,0 0 0,0 0 0,0 0 0,0 0 0,-17 0 0,17 0 0,0 0 0,0 0 0,0 0 0,0 0 0,0 0 0,0 0 0,0 0 1,-17 0-1,17 0 0,0 0 0,0 0 0,0 0 0,0 0 0,0 63 0,0-63 0,0 0 0,-17 0 0,-101 625-176,-103 1001-157,-1680 19323-3454,1816-20324 4141,68-750-318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0:49.1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3719 6138 9830,'-248'412'45,"41"0"-1,1 1 1,41 57-1,-1-58 1,1 59-1,41 0 1,-165 765 0,-538 1531 197,538-1708-245,41 60 1,42-1-1,-249 2296 1,331-2766 1180,207-2591-349,82 60 0,413-2356 1,166-2176 1349,-124 1235-529,-579 4297-1597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1:25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2484 3368 16532,'0'-112'0,"0"56"0,0-55 0,0-1 0,0 57 0,-42-57 0,42 1 0,-42-57 0,42 57 0,-22-56 0,-20 111 0,0-167 0,21 55 0,-22 57 0,-20-56 0,21-1 0,-22 57 0,-20-56 0,20 55 0,1-55 0,-22 55 0,22-55 0,-1 56 0,-20-1 0,-22 56 0,43 56 0,-43-111 0,42 111 0,-41-112 0,41 112 0,-42 0 0,22 112 0,-22-112 0,43 111 0,-1-55 0,-20 56 0,20-1 0,1 56 0,-22 1 0,22 55 0,20-56 0,-20 0 0,21 56 0,21 56 0,-22 0 0,43-56 0,-42 56 0,42-1 0,0 1 0,0 0 0,42 111 0,-42-111 0,43 111 0,-22-55 0,21-56 0,0 111 0,22-111 0,-22 111 0,22-55 0,-1-57 0,22 113 0,-22-112 0,0-1 0,22 113 0,-22-113 0,43 1 0,-42 0 0,20-56 0,-20 56 0,41-56 0,-41 56 0,-1-112 0,22 0 0,-22 112 0,1-56 0,20-167 0,-20 167 0,-22-56 0,21-55 0,-20 55 0,-22-56 0,63-55 0,-62 56 0,20-1 0,-42-55 0,42 55 0,-21-111 0,-21 112 0,43-56 0,-43 55 0,42-111 0,-42-111 0,21 111 0,-21-56 0,42 56 0,-42-112 0,43 112 0,-22-111 0,21 55 0,22-55 0,-22 111 0,0-112 0,22 56 0,-1-167 0,22 168 0,-22-57 0,0-55 0,22 55 0,21-55 0,-43-56 0,43 56 0,-43-1 0,43-55 0,0 56 0,0-112 0,-1 112 0,-41-112 0,41 112 0,1-112 0,0 0 0,-21 1 0,20-1 0,-41 0 0,41 0 0,-41-111 0,20 111 0,-20 0 0,-1-111 0,-20 111 0,20 0 0,-21-55 0,1 55 0,-22 0 0,21 1 0,-42-1 0,0-112 0,0 113 0,0 110 0,-42-110 0,42-1 0,-21 56 0,-22 0 0,1 0 0,-21 55 0,20 1 0,-20-56 0,-1 167 0,-20-55 0,20-56 0,1 55 0,-43 112 0,22-111 0,-22 111 0,42-56 0,-41 56 0,41 0 0,-41 56 0,41-56 0,-42 111 0,22-111 0,-22 112 0,43-57 0,-1 57 0,-41-1 0,20 57 0,64-57 0,-64-55 0,22 167 0,-1-167 0,22 55 0,0 57 0,21-57 0,-22 56 0,1-55 0,21-56 0,-21 55 0,42 1 0,-43-57 0,43 57 0,0-1 0,-21-111 0,21 56 0,0 56 0,0-112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1:44.9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10536 1254 20241,'-4010'0'0,"2824"-1244"0,-112 2470 0,-2712-1226 0,7116 750 0,-4348 494 0,4574-2013 0,-170 1574 0,-4348-2049 0,4518 476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2:08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3271 0 9830,'-145'0'328,"-216"0"-1,-145 0 1,-216 0 0,-145 0-1,289 0 1,506 1642 405,433-547-406,362 547 1,143-548 0,74 1-1,-74-548-327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2:19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4953 2619 9830,'-23'322'54,"23"-161"-1,-22 0 1,22 0-1,-23 161 1,0-161-1,1 0 1,-1 0 0,23 0-1,-23 0 1,1 0-1,-1 0 1,0-161-1,-22 161 1,22 0 0,1 0-1,-1-161 1,0 161-1,1-161 1,-24 161-1,23-161 1,1 161-1,-24-161 1,24 0 0,-1 161-1,-68-161 1,-793 804 1502,521-482 339,953-483-282,-114-322-246,-1225-804-208,-22 643-462,476 644-223,23-322 0,-23 0-1,23 0 1,-23-161 0,23 0-1,-386-1287 1,431 965-419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2:38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3608 38 21673,'-3602'0'0,"6767"7076"0,-2728-14152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4T12:22:50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958 7699 9830,'0'-245'240,"-72"-245"-42,72 82 0,0-1 0,0 1 0,0 0 0,0 0 0,72 0 0,0-1-1,1 1 1,71 0 0,-72 0 0,73 0 0,-1 81 0,1-81 0,-1 81 0,73-81 0,216-327-1,-433 735-184,73 0 0,-73-81-1,0 81 1,0 0 0,0 0-1,72 0 1,-72 0-1,0-82 1,0 82 0,0 0-1,72 0 1,-72 0 0,0 0-1,0 0 1,72 0 0,-72 0-1,0-82 1,0 82-1,73 0 1,-73 0 0,0 0-1,0 0 1,72 0 0,-72 0-1,0 0 1,0 82-1,72-82 1,-72 0 0,0 0-1,0 0 1,72 0 0,-72 0-1,0 0 1,0 0-1,72 0 1,-72 82 0,0-82-1,0 0 1,0 0 0,73 0-1,-73 0 1,0 81-1,0-81 1,361 1307-20,-217 1550-246,-216-2041 243,0 82-1,-73-81 1,-71-1 0,71 1-1,-71-1 1,-73 0 0,0 1 0,0-82-1,-795 1387 1,651-2040 787,144-898-404,72-1144 236,217 572 389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9CF4D-72D7-43AC-B512-C7988B99C003}" type="datetimeFigureOut"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B1320-F025-4407-B367-35AFA6E0ED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18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F475F-72F7-849F-0789-074DEC87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0ED7E-2DE6-E642-33ED-1329E497E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25" y="757238"/>
            <a:ext cx="5040313" cy="377983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DB4EF-78FF-5151-EB8A-32E982943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7815"/>
            <a:r>
              <a:rPr lang="en-US" sz="1000">
                <a:latin typeface="Consolas" panose="020B0609020204030204" pitchFamily="49" charset="0"/>
              </a:rPr>
              <a:t>Redo pictures (including </a:t>
            </a:r>
            <a:r>
              <a:rPr lang="en-US" sz="1000" err="1">
                <a:latin typeface="Consolas" panose="020B0609020204030204" pitchFamily="49" charset="0"/>
              </a:rPr>
              <a:t>wvu</a:t>
            </a:r>
            <a:r>
              <a:rPr lang="en-US" sz="1000">
                <a:latin typeface="Consolas" panose="020B0609020204030204" pitchFamily="49" charset="0"/>
              </a:rPr>
              <a:t> logo)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RStudio Code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---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title: "CHRT Individual Project"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output: </a:t>
            </a:r>
            <a:r>
              <a:rPr lang="en-US" sz="1000" err="1">
                <a:latin typeface="Consolas" panose="020B0609020204030204" pitchFamily="49" charset="0"/>
              </a:rPr>
              <a:t>html_document</a:t>
            </a:r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date: "2026-07-02"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---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 setup, include=FALSE}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knitr</a:t>
            </a:r>
            <a:r>
              <a:rPr lang="en-US" sz="1000">
                <a:latin typeface="Consolas" panose="020B0609020204030204" pitchFamily="49" charset="0"/>
              </a:rPr>
              <a:t>::</a:t>
            </a:r>
            <a:r>
              <a:rPr lang="en-US" sz="1000" err="1">
                <a:latin typeface="Consolas" panose="020B0609020204030204" pitchFamily="49" charset="0"/>
              </a:rPr>
              <a:t>opts_chunk$set</a:t>
            </a:r>
            <a:r>
              <a:rPr lang="en-US" sz="1000">
                <a:latin typeface="Consolas" panose="020B0609020204030204" pitchFamily="49" charset="0"/>
              </a:rPr>
              <a:t>(echo = TRUE)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#loading packages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#| warning: false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#| message: false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gamclass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library(psych)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library(haven)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tidyverse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dplyr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readxl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#loading in dataset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CHRT &lt;- </a:t>
            </a:r>
            <a:r>
              <a:rPr lang="en-US" sz="1000" err="1">
                <a:latin typeface="Consolas" panose="020B0609020204030204" pitchFamily="49" charset="0"/>
              </a:rPr>
              <a:t>read_xlsx</a:t>
            </a:r>
            <a:r>
              <a:rPr lang="en-US" sz="1000">
                <a:latin typeface="Consolas" panose="020B0609020204030204" pitchFamily="49" charset="0"/>
              </a:rPr>
              <a:t>("C:/Users/GBM003/OneDrive - Nationwide Children's Hospital/RISE_2026_datasets/CHRT_cleaned.xlsx")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#eliminating all NA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CHRT &lt;- </a:t>
            </a:r>
            <a:r>
              <a:rPr lang="en-US" sz="1000" err="1">
                <a:latin typeface="Consolas" panose="020B0609020204030204" pitchFamily="49" charset="0"/>
              </a:rPr>
              <a:t>na.omit</a:t>
            </a:r>
            <a:r>
              <a:rPr lang="en-US" sz="1000">
                <a:latin typeface="Consolas" panose="020B0609020204030204" pitchFamily="49" charset="0"/>
              </a:rPr>
              <a:t>(CHRT)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CHRT &lt;- CHRT[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complete.cases</a:t>
            </a:r>
            <a:r>
              <a:rPr lang="en-US" sz="1000">
                <a:latin typeface="Consolas" panose="020B0609020204030204" pitchFamily="49" charset="0"/>
              </a:rPr>
              <a:t>(CHRT[, paste0("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", 1:14)]),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]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CHRT &lt;- </a:t>
            </a:r>
            <a:r>
              <a:rPr lang="en-US" sz="1000" err="1">
                <a:latin typeface="Consolas" panose="020B0609020204030204" pitchFamily="49" charset="0"/>
              </a:rPr>
              <a:t>na.omit</a:t>
            </a:r>
            <a:r>
              <a:rPr lang="en-US" sz="1000">
                <a:latin typeface="Consolas" panose="020B0609020204030204" pitchFamily="49" charset="0"/>
              </a:rPr>
              <a:t>(CHRT)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#making a sheet with only the CHRT items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 &lt;- CHRT %&gt;%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select(MRN, RECORDED_DATE,TEMPLATE_ID, chrt1:chrt14)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#checking how many individual participants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length(unique(</a:t>
            </a:r>
            <a:r>
              <a:rPr lang="en-US" sz="1000" err="1">
                <a:latin typeface="Consolas" panose="020B0609020204030204" pitchFamily="49" charset="0"/>
              </a:rPr>
              <a:t>chrt$MRN</a:t>
            </a:r>
            <a:r>
              <a:rPr lang="en-US" sz="1000">
                <a:latin typeface="Consolas" panose="020B0609020204030204" pitchFamily="49" charset="0"/>
              </a:rPr>
              <a:t>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#deleting all responses from participants after their first response (if have multiple inputs)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arrange(MRN, RECORDED_DATE)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distinct(MRN, .</a:t>
            </a:r>
            <a:r>
              <a:rPr lang="en-US" sz="1000" err="1">
                <a:latin typeface="Consolas" panose="020B0609020204030204" pitchFamily="49" charset="0"/>
              </a:rPr>
              <a:t>keep_all</a:t>
            </a:r>
            <a:r>
              <a:rPr lang="en-US" sz="1000">
                <a:latin typeface="Consolas" panose="020B0609020204030204" pitchFamily="49" charset="0"/>
              </a:rPr>
              <a:t> = TRUE)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#verifying how many were deleted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nrow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nrow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nrow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) - </a:t>
            </a:r>
            <a:r>
              <a:rPr lang="en-US" sz="1000" err="1">
                <a:latin typeface="Consolas" panose="020B0609020204030204" pitchFamily="49" charset="0"/>
              </a:rPr>
              <a:t>nrow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#including only the CHRT 14 items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select(-TEMPLATE_ID, -MRN, -RECORDED_DATE)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#making sure all values are numeric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data.frame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lapply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, </a:t>
            </a:r>
            <a:r>
              <a:rPr lang="en-US" sz="1000" err="1">
                <a:latin typeface="Consolas" panose="020B0609020204030204" pitchFamily="49" charset="0"/>
              </a:rPr>
              <a:t>as.numeric</a:t>
            </a:r>
            <a:r>
              <a:rPr lang="en-US" sz="1000">
                <a:latin typeface="Consolas" panose="020B0609020204030204" pitchFamily="49" charset="0"/>
              </a:rPr>
              <a:t>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#shows the number of rows/columns of the 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 items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nrow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ncol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sapply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, class)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colSums</a:t>
            </a:r>
            <a:r>
              <a:rPr lang="en-US" sz="1000">
                <a:latin typeface="Consolas" panose="020B0609020204030204" pitchFamily="49" charset="0"/>
              </a:rPr>
              <a:t>(is.na(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#univariate normality (each variable looks normal by itself)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describe(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#multivariate non-normal(not all together)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mardia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, plot=TRUE)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pairs.panels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#not many univariate outliers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boxplot(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, notch=FALSE, </a:t>
            </a:r>
            <a:r>
              <a:rPr lang="en-US" sz="1000" err="1">
                <a:latin typeface="Consolas" panose="020B0609020204030204" pitchFamily="49" charset="0"/>
              </a:rPr>
              <a:t>boxfill</a:t>
            </a:r>
            <a:r>
              <a:rPr lang="en-US" sz="1000">
                <a:latin typeface="Consolas" panose="020B0609020204030204" pitchFamily="49" charset="0"/>
              </a:rPr>
              <a:t>="</a:t>
            </a:r>
            <a:r>
              <a:rPr lang="en-US" sz="1000" err="1">
                <a:latin typeface="Consolas" panose="020B0609020204030204" pitchFamily="49" charset="0"/>
              </a:rPr>
              <a:t>royalblue</a:t>
            </a:r>
            <a:r>
              <a:rPr lang="en-US" sz="1000">
                <a:latin typeface="Consolas" panose="020B0609020204030204" pitchFamily="49" charset="0"/>
              </a:rPr>
              <a:t>", </a:t>
            </a:r>
            <a:r>
              <a:rPr lang="en-US" sz="1000" err="1">
                <a:latin typeface="Consolas" panose="020B0609020204030204" pitchFamily="49" charset="0"/>
              </a:rPr>
              <a:t>whiskcol</a:t>
            </a:r>
            <a:r>
              <a:rPr lang="en-US" sz="1000">
                <a:latin typeface="Consolas" panose="020B0609020204030204" pitchFamily="49" charset="0"/>
              </a:rPr>
              <a:t>="blue", </a:t>
            </a:r>
            <a:r>
              <a:rPr lang="en-US" sz="1000" err="1">
                <a:latin typeface="Consolas" panose="020B0609020204030204" pitchFamily="49" charset="0"/>
              </a:rPr>
              <a:t>pch</a:t>
            </a:r>
            <a:r>
              <a:rPr lang="en-US" sz="1000">
                <a:latin typeface="Consolas" panose="020B0609020204030204" pitchFamily="49" charset="0"/>
              </a:rPr>
              <a:t>=16, </a:t>
            </a:r>
            <a:r>
              <a:rPr lang="en-US" sz="1000" err="1">
                <a:latin typeface="Consolas" panose="020B0609020204030204" pitchFamily="49" charset="0"/>
              </a:rPr>
              <a:t>outcol</a:t>
            </a:r>
            <a:r>
              <a:rPr lang="en-US" sz="1000">
                <a:latin typeface="Consolas" panose="020B0609020204030204" pitchFamily="49" charset="0"/>
              </a:rPr>
              <a:t>="firebrick")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#no major multivariate outliers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library(psych)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outlier(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bad = 4,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plot = TRUE,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na.rm = TRUE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#calculates Cronbach's alpha for internal reliability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psych::alpha(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#raw alpha= 0.91 (excellent)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#calculates omega assuming 3 factor model for internal reliability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psych::omega(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,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 = 3)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#alpha=0.91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#omega=0.94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#correlations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matrix &lt;- </a:t>
            </a:r>
            <a:r>
              <a:rPr lang="en-US" sz="1000" err="1">
                <a:latin typeface="Consolas" panose="020B0609020204030204" pitchFamily="49" charset="0"/>
              </a:rPr>
              <a:t>cor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print(matrix)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#Scan matrix and ensure coefficients are ≥ .30 (Hair et al., 2019; Tabachnick &amp; Fidell, 2019).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qgraph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qgraph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matrix,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cut = .30,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details = TRUE,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posCol</a:t>
            </a:r>
            <a:r>
              <a:rPr lang="en-US" sz="1000">
                <a:latin typeface="Consolas" panose="020B0609020204030204" pitchFamily="49" charset="0"/>
              </a:rPr>
              <a:t> = "orangered3",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negCol</a:t>
            </a:r>
            <a:r>
              <a:rPr lang="en-US" sz="1000">
                <a:latin typeface="Consolas" panose="020B0609020204030204" pitchFamily="49" charset="0"/>
              </a:rPr>
              <a:t> = "green",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labels = names(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 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#Determine the number of high correlations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number of r &gt;.30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Above30 &lt;- sum(abs(matrix) &gt;= .30 &amp; abs(matrix) &lt; 1, na.rm = TRUE) / 2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nElements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ncol</a:t>
            </a:r>
            <a:r>
              <a:rPr lang="en-US" sz="1000">
                <a:latin typeface="Consolas" panose="020B0609020204030204" pitchFamily="49" charset="0"/>
              </a:rPr>
              <a:t>(matrix) * (</a:t>
            </a:r>
            <a:r>
              <a:rPr lang="en-US" sz="1000" err="1">
                <a:latin typeface="Consolas" panose="020B0609020204030204" pitchFamily="49" charset="0"/>
              </a:rPr>
              <a:t>ncol</a:t>
            </a:r>
            <a:r>
              <a:rPr lang="en-US" sz="1000">
                <a:latin typeface="Consolas" panose="020B0609020204030204" pitchFamily="49" charset="0"/>
              </a:rPr>
              <a:t>(matrix) - 1) / 2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Percent of off-diagonal elements &gt; .30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print((Above30/</a:t>
            </a:r>
            <a:r>
              <a:rPr lang="en-US" sz="1000" err="1">
                <a:latin typeface="Consolas" panose="020B0609020204030204" pitchFamily="49" charset="0"/>
              </a:rPr>
              <a:t>nElements</a:t>
            </a:r>
            <a:r>
              <a:rPr lang="en-US" sz="1000">
                <a:latin typeface="Consolas" panose="020B0609020204030204" pitchFamily="49" charset="0"/>
              </a:rPr>
              <a:t>)*100) 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Determinant of the Correlation Matrix.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 ("base")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#If the determinant is &gt; .00001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#then multicollinearity is probably not a problem (Field et al., 2012).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#Run code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det(matrix)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#parallel analysis and scree plot to help determine number of factors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ev</a:t>
            </a:r>
            <a:r>
              <a:rPr lang="en-US" sz="1000">
                <a:latin typeface="Consolas" panose="020B0609020204030204" pitchFamily="49" charset="0"/>
              </a:rPr>
              <a:t> &lt;- eigen(</a:t>
            </a:r>
            <a:r>
              <a:rPr lang="en-US" sz="1000" err="1">
                <a:latin typeface="Consolas" panose="020B0609020204030204" pitchFamily="49" charset="0"/>
              </a:rPr>
              <a:t>cor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ap &lt;-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::parallel(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subject = </a:t>
            </a:r>
            <a:r>
              <a:rPr lang="en-US" sz="1000" err="1">
                <a:latin typeface="Consolas" panose="020B0609020204030204" pitchFamily="49" charset="0"/>
              </a:rPr>
              <a:t>nrow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),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var = </a:t>
            </a:r>
            <a:r>
              <a:rPr lang="en-US" sz="1000" err="1">
                <a:latin typeface="Consolas" panose="020B0609020204030204" pitchFamily="49" charset="0"/>
              </a:rPr>
              <a:t>ncol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rep = 100,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cent = .05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nS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nScree</a:t>
            </a:r>
            <a:r>
              <a:rPr lang="en-US" sz="1000">
                <a:latin typeface="Consolas" panose="020B0609020204030204" pitchFamily="49" charset="0"/>
              </a:rPr>
              <a:t>(x = </a:t>
            </a:r>
            <a:r>
              <a:rPr lang="en-US" sz="1000" err="1">
                <a:latin typeface="Consolas" panose="020B0609020204030204" pitchFamily="49" charset="0"/>
              </a:rPr>
              <a:t>ev$values</a:t>
            </a:r>
            <a:r>
              <a:rPr lang="en-US" sz="1000">
                <a:latin typeface="Consolas" panose="020B0609020204030204" pitchFamily="49" charset="0"/>
              </a:rPr>
              <a:t>, </a:t>
            </a:r>
            <a:r>
              <a:rPr lang="en-US" sz="1000" err="1">
                <a:latin typeface="Consolas" panose="020B0609020204030204" pitchFamily="49" charset="0"/>
              </a:rPr>
              <a:t>aparallel</a:t>
            </a:r>
            <a:r>
              <a:rPr lang="en-US" sz="1000">
                <a:latin typeface="Consolas" panose="020B0609020204030204" pitchFamily="49" charset="0"/>
              </a:rPr>
              <a:t> = </a:t>
            </a:r>
            <a:r>
              <a:rPr lang="en-US" sz="1000" err="1">
                <a:latin typeface="Consolas" panose="020B0609020204030204" pitchFamily="49" charset="0"/>
              </a:rPr>
              <a:t>ap$eigen$qevpea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plotnScree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nS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#shows evidence for 3 factors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#observed eigenvalues for 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 and parallel analysis eigenvalues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ev$values</a:t>
            </a:r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ap$eigen$qevpea</a:t>
            </a:r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#before factor analysis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cortest.bartlett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## statistically significant, p=0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cortest.bartlett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matrix,n</a:t>
            </a:r>
            <a:r>
              <a:rPr lang="en-US" sz="1000">
                <a:latin typeface="Consolas" panose="020B0609020204030204" pitchFamily="49" charset="0"/>
              </a:rPr>
              <a:t>=2948,diag=FALSE)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KMO(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## .90 is "marvelous"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 eigen scree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## METHOD 1 to See How Many Factors: Eigenvalue (Kaiser criterion) (ChatGPT code)- psych &amp;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## </a:t>
            </a:r>
            <a:r>
              <a:rPr lang="en-US" sz="1000" err="1">
                <a:latin typeface="Consolas" panose="020B0609020204030204" pitchFamily="49" charset="0"/>
              </a:rPr>
              <a:t>polychoric</a:t>
            </a:r>
            <a:r>
              <a:rPr lang="en-US" sz="1000">
                <a:latin typeface="Consolas" panose="020B0609020204030204" pitchFamily="49" charset="0"/>
              </a:rPr>
              <a:t> correlation matrix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chrt_polychor_cor</a:t>
            </a:r>
            <a:r>
              <a:rPr lang="en-US" sz="1000">
                <a:latin typeface="Consolas" panose="020B0609020204030204" pitchFamily="49" charset="0"/>
              </a:rPr>
              <a:t> &lt;- psych::</a:t>
            </a:r>
            <a:r>
              <a:rPr lang="en-US" sz="1000" err="1">
                <a:latin typeface="Consolas" panose="020B0609020204030204" pitchFamily="49" charset="0"/>
              </a:rPr>
              <a:t>polychoric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)$rho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write.csv(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chrt_polychor_cor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"CHRT_polychoric_matrix.csv",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row.names</a:t>
            </a:r>
            <a:r>
              <a:rPr lang="en-US" sz="1000">
                <a:latin typeface="Consolas" panose="020B0609020204030204" pitchFamily="49" charset="0"/>
              </a:rPr>
              <a:t> = TRUE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ev</a:t>
            </a:r>
            <a:r>
              <a:rPr lang="en-US" sz="1000">
                <a:latin typeface="Consolas" panose="020B0609020204030204" pitchFamily="49" charset="0"/>
              </a:rPr>
              <a:t> &lt;- eigen(</a:t>
            </a:r>
            <a:r>
              <a:rPr lang="en-US" sz="1000" err="1">
                <a:latin typeface="Consolas" panose="020B0609020204030204" pitchFamily="49" charset="0"/>
              </a:rPr>
              <a:t>chrt_polychor_cor</a:t>
            </a:r>
            <a:r>
              <a:rPr lang="en-US" sz="1000">
                <a:latin typeface="Consolas" panose="020B0609020204030204" pitchFamily="49" charset="0"/>
              </a:rPr>
              <a:t>)$values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ap &lt;-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::parallel(subject = </a:t>
            </a:r>
            <a:r>
              <a:rPr lang="en-US" sz="1000" err="1">
                <a:latin typeface="Consolas" panose="020B0609020204030204" pitchFamily="49" charset="0"/>
              </a:rPr>
              <a:t>nrow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 var = </a:t>
            </a:r>
            <a:r>
              <a:rPr lang="en-US" sz="1000" err="1">
                <a:latin typeface="Consolas" panose="020B0609020204030204" pitchFamily="49" charset="0"/>
              </a:rPr>
              <a:t>ncol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 rep = 100,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 cent = .95)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ns &lt;-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::</a:t>
            </a:r>
            <a:r>
              <a:rPr lang="en-US" sz="1000" err="1">
                <a:latin typeface="Consolas" panose="020B0609020204030204" pitchFamily="49" charset="0"/>
              </a:rPr>
              <a:t>nScree</a:t>
            </a:r>
            <a:r>
              <a:rPr lang="en-US" sz="1000">
                <a:latin typeface="Consolas" panose="020B0609020204030204" pitchFamily="49" charset="0"/>
              </a:rPr>
              <a:t>(x = </a:t>
            </a:r>
            <a:r>
              <a:rPr lang="en-US" sz="1000" err="1">
                <a:latin typeface="Consolas" panose="020B0609020204030204" pitchFamily="49" charset="0"/>
              </a:rPr>
              <a:t>ev</a:t>
            </a:r>
            <a:r>
              <a:rPr lang="en-US" sz="1000">
                <a:latin typeface="Consolas" panose="020B0609020204030204" pitchFamily="49" charset="0"/>
              </a:rPr>
              <a:t>, </a:t>
            </a:r>
            <a:r>
              <a:rPr lang="en-US" sz="1000" err="1">
                <a:latin typeface="Consolas" panose="020B0609020204030204" pitchFamily="49" charset="0"/>
              </a:rPr>
              <a:t>aparallel</a:t>
            </a:r>
            <a:r>
              <a:rPr lang="en-US" sz="1000">
                <a:latin typeface="Consolas" panose="020B0609020204030204" pitchFamily="49" charset="0"/>
              </a:rPr>
              <a:t> = </a:t>
            </a:r>
            <a:r>
              <a:rPr lang="en-US" sz="1000" err="1">
                <a:latin typeface="Consolas" panose="020B0609020204030204" pitchFamily="49" charset="0"/>
              </a:rPr>
              <a:t>ap$eigen$qevpea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ns$Components</a:t>
            </a:r>
            <a:r>
              <a:rPr lang="en-US" sz="1000">
                <a:latin typeface="Consolas" panose="020B0609020204030204" pitchFamily="49" charset="0"/>
              </a:rPr>
              <a:t> # shows suggested # factors by rules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::</a:t>
            </a:r>
            <a:r>
              <a:rPr lang="en-US" sz="1000" err="1">
                <a:latin typeface="Consolas" panose="020B0609020204030204" pitchFamily="49" charset="0"/>
              </a:rPr>
              <a:t>plotnScree</a:t>
            </a:r>
            <a:r>
              <a:rPr lang="en-US" sz="1000">
                <a:latin typeface="Consolas" panose="020B0609020204030204" pitchFamily="49" charset="0"/>
              </a:rPr>
              <a:t>(ns)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## Findings: 3 factors above </a:t>
            </a:r>
            <a:r>
              <a:rPr lang="en-US" sz="1000" err="1">
                <a:latin typeface="Consolas" panose="020B0609020204030204" pitchFamily="49" charset="0"/>
              </a:rPr>
              <a:t>ev</a:t>
            </a:r>
            <a:r>
              <a:rPr lang="en-US" sz="1000">
                <a:latin typeface="Consolas" panose="020B0609020204030204" pitchFamily="49" charset="0"/>
              </a:rPr>
              <a:t> = 1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 parallel analysis scree}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## METHOD 2 to See How Many Factors: parallel analysis- psych package only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psych::</a:t>
            </a:r>
            <a:r>
              <a:rPr lang="en-US" sz="1000" err="1">
                <a:latin typeface="Consolas" panose="020B0609020204030204" pitchFamily="49" charset="0"/>
              </a:rPr>
              <a:t>fa.parallel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fa  = "fa",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fm</a:t>
            </a:r>
            <a:r>
              <a:rPr lang="en-US" sz="1000">
                <a:latin typeface="Consolas" panose="020B0609020204030204" pitchFamily="49" charset="0"/>
              </a:rPr>
              <a:t>  = "</a:t>
            </a:r>
            <a:r>
              <a:rPr lang="en-US" sz="1000" err="1">
                <a:latin typeface="Consolas" panose="020B0609020204030204" pitchFamily="49" charset="0"/>
              </a:rPr>
              <a:t>minres</a:t>
            </a:r>
            <a:r>
              <a:rPr lang="en-US" sz="1000">
                <a:latin typeface="Consolas" panose="020B0609020204030204" pitchFamily="49" charset="0"/>
              </a:rPr>
              <a:t>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cor</a:t>
            </a:r>
            <a:r>
              <a:rPr lang="en-US" sz="1000">
                <a:latin typeface="Consolas" panose="020B0609020204030204" pitchFamily="49" charset="0"/>
              </a:rPr>
              <a:t> = "poly"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##Suggests 4 factor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#How many factors should I keep?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library(parameters)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chrt_14 &lt;- </a:t>
            </a:r>
            <a:r>
              <a:rPr lang="en-US" sz="1000" err="1">
                <a:latin typeface="Consolas" panose="020B0609020204030204" pitchFamily="49" charset="0"/>
              </a:rPr>
              <a:t>n_factors</a:t>
            </a:r>
            <a:r>
              <a:rPr lang="en-US" sz="1000">
                <a:latin typeface="Consolas" panose="020B0609020204030204" pitchFamily="49" charset="0"/>
              </a:rPr>
              <a:t>(x = 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type = "fa",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rotation = "</a:t>
            </a:r>
            <a:r>
              <a:rPr lang="en-US" sz="1000" err="1">
                <a:latin typeface="Consolas" panose="020B0609020204030204" pitchFamily="49" charset="0"/>
              </a:rPr>
              <a:t>promax</a:t>
            </a:r>
            <a:r>
              <a:rPr lang="en-US" sz="1000">
                <a:latin typeface="Consolas" panose="020B0609020204030204" pitchFamily="49" charset="0"/>
              </a:rPr>
              <a:t>",  ## for VSS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algorithm = "</a:t>
            </a:r>
            <a:r>
              <a:rPr lang="en-US" sz="1000" err="1">
                <a:latin typeface="Consolas" panose="020B0609020204030204" pitchFamily="49" charset="0"/>
              </a:rPr>
              <a:t>minres</a:t>
            </a:r>
            <a:r>
              <a:rPr lang="en-US" sz="1000">
                <a:latin typeface="Consolas" panose="020B0609020204030204" pitchFamily="49" charset="0"/>
              </a:rPr>
              <a:t>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package = c("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", "psych"),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</a:t>
            </a:r>
            <a:r>
              <a:rPr lang="en-US" sz="1000" err="1">
                <a:latin typeface="Consolas" panose="020B0609020204030204" pitchFamily="49" charset="0"/>
              </a:rPr>
              <a:t>correlation_matrix</a:t>
            </a:r>
            <a:r>
              <a:rPr lang="en-US" sz="1000">
                <a:latin typeface="Consolas" panose="020B0609020204030204" pitchFamily="49" charset="0"/>
              </a:rPr>
              <a:t> = psych::</a:t>
            </a:r>
            <a:r>
              <a:rPr lang="en-US" sz="1000" err="1">
                <a:latin typeface="Consolas" panose="020B0609020204030204" pitchFamily="49" charset="0"/>
              </a:rPr>
              <a:t>polychoric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)$rho)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chrt_14    ## print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as.data.frame</a:t>
            </a:r>
            <a:r>
              <a:rPr lang="en-US" sz="1000">
                <a:latin typeface="Consolas" panose="020B0609020204030204" pitchFamily="49" charset="0"/>
              </a:rPr>
              <a:t>(chrt_14)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#The choice of 3 dimensions is supported by 5 (26.32%) methods out of 19 (CNG, Optimal coordinates, Parallel analysis, Kaiser criterion, </a:t>
            </a:r>
            <a:r>
              <a:rPr lang="en-US" sz="1000" err="1">
                <a:latin typeface="Consolas" panose="020B0609020204030204" pitchFamily="49" charset="0"/>
              </a:rPr>
              <a:t>Velicer's</a:t>
            </a:r>
            <a:r>
              <a:rPr lang="en-US" sz="1000">
                <a:latin typeface="Consolas" panose="020B0609020204030204" pitchFamily="49" charset="0"/>
              </a:rPr>
              <a:t> MAP).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EFA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 Range 1-5 factors, eval=FALSE, include=FALSE}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## Same estimator as ESEM. This is to support continuity. Testing 1,2,3,4,5 factors (would not run with more than 5)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#Testing multiple EFA's at once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lavaan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var.names</a:t>
            </a:r>
            <a:r>
              <a:rPr lang="en-US" sz="1000">
                <a:latin typeface="Consolas" panose="020B0609020204030204" pitchFamily="49" charset="0"/>
              </a:rPr>
              <a:t> &lt;- paste0("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", 1:14)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set.seed</a:t>
            </a:r>
            <a:r>
              <a:rPr lang="en-US" sz="1000">
                <a:latin typeface="Consolas" panose="020B0609020204030204" pitchFamily="49" charset="0"/>
              </a:rPr>
              <a:t>(1234)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fit.efa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efa</a:t>
            </a:r>
            <a:r>
              <a:rPr lang="en-US" sz="1000">
                <a:latin typeface="Consolas" panose="020B0609020204030204" pitchFamily="49" charset="0"/>
              </a:rPr>
              <a:t>(data = 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,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 = 1:5, estimator = "WLSMV", ordered = </a:t>
            </a:r>
            <a:r>
              <a:rPr lang="en-US" sz="1000" err="1">
                <a:latin typeface="Consolas" panose="020B0609020204030204" pitchFamily="49" charset="0"/>
              </a:rPr>
              <a:t>var.names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summary(</a:t>
            </a:r>
            <a:r>
              <a:rPr lang="en-US" sz="1000" err="1">
                <a:latin typeface="Consolas" panose="020B0609020204030204" pitchFamily="49" charset="0"/>
              </a:rPr>
              <a:t>fit.efa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#chisq    </a:t>
            </a:r>
            <a:r>
              <a:rPr lang="en-US" sz="1000" err="1">
                <a:latin typeface="Consolas" panose="020B0609020204030204" pitchFamily="49" charset="0"/>
              </a:rPr>
              <a:t>df</a:t>
            </a:r>
            <a:r>
              <a:rPr lang="en-US" sz="1000">
                <a:latin typeface="Consolas" panose="020B0609020204030204" pitchFamily="49" charset="0"/>
              </a:rPr>
              <a:t>    cfi    </a:t>
            </a:r>
            <a:r>
              <a:rPr lang="en-US" sz="1000" err="1">
                <a:latin typeface="Consolas" panose="020B0609020204030204" pitchFamily="49" charset="0"/>
              </a:rPr>
              <a:t>rmsea</a:t>
            </a:r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 = 1 4291.903  77   0.693  0.208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 = 2 2140.866  64   0.788  0.189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 = 3 1068.542  52   0.914  0.133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 = 4  578.315  41   0.937  0.129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 = 5  206.822  31   0.982  0.079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## EFA for a 3 factor using </a:t>
            </a:r>
            <a:r>
              <a:rPr lang="en-US" sz="1000" err="1">
                <a:latin typeface="Consolas" panose="020B0609020204030204" pitchFamily="49" charset="0"/>
              </a:rPr>
              <a:t>Lavaan</a:t>
            </a:r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#same estimator as CFA. use over psych poly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var.names</a:t>
            </a:r>
            <a:r>
              <a:rPr lang="en-US" sz="1000">
                <a:latin typeface="Consolas" panose="020B0609020204030204" pitchFamily="49" charset="0"/>
              </a:rPr>
              <a:t> &lt;- paste0("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", 1:14)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set.seed</a:t>
            </a:r>
            <a:r>
              <a:rPr lang="en-US" sz="1000">
                <a:latin typeface="Consolas" panose="020B0609020204030204" pitchFamily="49" charset="0"/>
              </a:rPr>
              <a:t>(1234)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fit_3 &lt;- </a:t>
            </a:r>
            <a:r>
              <a:rPr lang="en-US" sz="1000" err="1">
                <a:latin typeface="Consolas" panose="020B0609020204030204" pitchFamily="49" charset="0"/>
              </a:rPr>
              <a:t>efa</a:t>
            </a:r>
            <a:r>
              <a:rPr lang="en-US" sz="1000">
                <a:latin typeface="Consolas" panose="020B0609020204030204" pitchFamily="49" charset="0"/>
              </a:rPr>
              <a:t>(data = 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</a:t>
            </a:r>
            <a:r>
              <a:rPr lang="en-US" sz="1000" err="1">
                <a:latin typeface="Consolas" panose="020B0609020204030204" pitchFamily="49" charset="0"/>
              </a:rPr>
              <a:t>nfactors</a:t>
            </a:r>
            <a:r>
              <a:rPr lang="en-US" sz="1000">
                <a:latin typeface="Consolas" panose="020B0609020204030204" pitchFamily="49" charset="0"/>
              </a:rPr>
              <a:t> = 3,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estimator = "WLSMV",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ordered = </a:t>
            </a:r>
            <a:r>
              <a:rPr lang="en-US" sz="1000" err="1">
                <a:latin typeface="Consolas" panose="020B0609020204030204" pitchFamily="49" charset="0"/>
              </a:rPr>
              <a:t>var.names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rotation = "</a:t>
            </a:r>
            <a:r>
              <a:rPr lang="en-US" sz="1000" err="1">
                <a:latin typeface="Consolas" panose="020B0609020204030204" pitchFamily="49" charset="0"/>
              </a:rPr>
              <a:t>promax</a:t>
            </a:r>
            <a:r>
              <a:rPr lang="en-US" sz="1000">
                <a:latin typeface="Consolas" panose="020B0609020204030204" pitchFamily="49" charset="0"/>
              </a:rPr>
              <a:t>")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summary(fit_3)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fitMeasures</a:t>
            </a:r>
            <a:r>
              <a:rPr lang="en-US" sz="1000">
                <a:latin typeface="Consolas" panose="020B0609020204030204" pitchFamily="49" charset="0"/>
              </a:rPr>
              <a:t>(fit_3, </a:t>
            </a:r>
            <a:r>
              <a:rPr lang="en-US" sz="1000" err="1">
                <a:latin typeface="Consolas" panose="020B0609020204030204" pitchFamily="49" charset="0"/>
              </a:rPr>
              <a:t>fit.measures</a:t>
            </a:r>
            <a:r>
              <a:rPr lang="en-US" sz="1000">
                <a:latin typeface="Consolas" panose="020B0609020204030204" pitchFamily="49" charset="0"/>
              </a:rPr>
              <a:t> = c("</a:t>
            </a:r>
            <a:r>
              <a:rPr lang="en-US" sz="1000" err="1">
                <a:latin typeface="Consolas" panose="020B0609020204030204" pitchFamily="49" charset="0"/>
              </a:rPr>
              <a:t>chisq.scaled</a:t>
            </a:r>
            <a:r>
              <a:rPr lang="en-US" sz="1000">
                <a:latin typeface="Consolas" panose="020B0609020204030204" pitchFamily="49" charset="0"/>
              </a:rPr>
              <a:t>", "</a:t>
            </a:r>
            <a:r>
              <a:rPr lang="en-US" sz="1000" err="1">
                <a:latin typeface="Consolas" panose="020B0609020204030204" pitchFamily="49" charset="0"/>
              </a:rPr>
              <a:t>df.scaled</a:t>
            </a:r>
            <a:r>
              <a:rPr lang="en-US" sz="1000">
                <a:latin typeface="Consolas" panose="020B0609020204030204" pitchFamily="49" charset="0"/>
              </a:rPr>
              <a:t>", "</a:t>
            </a:r>
            <a:r>
              <a:rPr lang="en-US" sz="1000" err="1">
                <a:latin typeface="Consolas" panose="020B0609020204030204" pitchFamily="49" charset="0"/>
              </a:rPr>
              <a:t>pvalue.scaled</a:t>
            </a:r>
            <a:r>
              <a:rPr lang="en-US" sz="1000">
                <a:latin typeface="Consolas" panose="020B0609020204030204" pitchFamily="49" charset="0"/>
              </a:rPr>
              <a:t>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            "</a:t>
            </a:r>
            <a:r>
              <a:rPr lang="en-US" sz="1000" err="1">
                <a:latin typeface="Consolas" panose="020B0609020204030204" pitchFamily="49" charset="0"/>
              </a:rPr>
              <a:t>rmsea.scaled</a:t>
            </a:r>
            <a:r>
              <a:rPr lang="en-US" sz="1000">
                <a:latin typeface="Consolas" panose="020B0609020204030204" pitchFamily="49" charset="0"/>
              </a:rPr>
              <a:t>", "</a:t>
            </a:r>
            <a:r>
              <a:rPr lang="en-US" sz="1000" err="1">
                <a:latin typeface="Consolas" panose="020B0609020204030204" pitchFamily="49" charset="0"/>
              </a:rPr>
              <a:t>cfi.scaled</a:t>
            </a:r>
            <a:r>
              <a:rPr lang="en-US" sz="1000">
                <a:latin typeface="Consolas" panose="020B0609020204030204" pitchFamily="49" charset="0"/>
              </a:rPr>
              <a:t>", "</a:t>
            </a:r>
            <a:r>
              <a:rPr lang="en-US" sz="1000" err="1">
                <a:latin typeface="Consolas" panose="020B0609020204030204" pitchFamily="49" charset="0"/>
              </a:rPr>
              <a:t>tli.scaled</a:t>
            </a:r>
            <a:r>
              <a:rPr lang="en-US" sz="1000">
                <a:latin typeface="Consolas" panose="020B0609020204030204" pitchFamily="49" charset="0"/>
              </a:rPr>
              <a:t>", "</a:t>
            </a:r>
            <a:r>
              <a:rPr lang="en-US" sz="1000" err="1">
                <a:latin typeface="Consolas" panose="020B0609020204030204" pitchFamily="49" charset="0"/>
              </a:rPr>
              <a:t>srmr</a:t>
            </a:r>
            <a:r>
              <a:rPr lang="en-US" sz="1000">
                <a:latin typeface="Consolas" panose="020B0609020204030204" pitchFamily="49" charset="0"/>
              </a:rPr>
              <a:t>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            "</a:t>
            </a:r>
            <a:r>
              <a:rPr lang="en-US" sz="1000" err="1">
                <a:latin typeface="Consolas" panose="020B0609020204030204" pitchFamily="49" charset="0"/>
              </a:rPr>
              <a:t>rmsea.robust</a:t>
            </a:r>
            <a:r>
              <a:rPr lang="en-US" sz="1000">
                <a:latin typeface="Consolas" panose="020B0609020204030204" pitchFamily="49" charset="0"/>
              </a:rPr>
              <a:t>", "</a:t>
            </a:r>
            <a:r>
              <a:rPr lang="en-US" sz="1000" err="1">
                <a:latin typeface="Consolas" panose="020B0609020204030204" pitchFamily="49" charset="0"/>
              </a:rPr>
              <a:t>cfi.robust</a:t>
            </a:r>
            <a:r>
              <a:rPr lang="en-US" sz="1000">
                <a:latin typeface="Consolas" panose="020B0609020204030204" pitchFamily="49" charset="0"/>
              </a:rPr>
              <a:t>", "</a:t>
            </a:r>
            <a:r>
              <a:rPr lang="en-US" sz="1000" err="1">
                <a:latin typeface="Consolas" panose="020B0609020204030204" pitchFamily="49" charset="0"/>
              </a:rPr>
              <a:t>tli.robust</a:t>
            </a:r>
            <a:r>
              <a:rPr lang="en-US" sz="1000">
                <a:latin typeface="Consolas" panose="020B0609020204030204" pitchFamily="49" charset="0"/>
              </a:rPr>
              <a:t>"))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fit_3$loadings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Rotation affects factor loadings, not global model fit.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Use unrotated solution for robust fit indices and rotated solution for interpretation.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## rotated </a:t>
            </a:r>
            <a:r>
              <a:rPr lang="en-US" sz="1000" err="1">
                <a:latin typeface="Consolas" panose="020B0609020204030204" pitchFamily="49" charset="0"/>
              </a:rPr>
              <a:t>promax</a:t>
            </a:r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chisq.scaled</a:t>
            </a:r>
            <a:r>
              <a:rPr lang="en-US" sz="1000">
                <a:latin typeface="Consolas" panose="020B0609020204030204" pitchFamily="49" charset="0"/>
              </a:rPr>
              <a:t>   1068.542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df.scaled</a:t>
            </a:r>
            <a:r>
              <a:rPr lang="en-US" sz="1000">
                <a:latin typeface="Consolas" panose="020B0609020204030204" pitchFamily="49" charset="0"/>
              </a:rPr>
              <a:t>        52.000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pvalue.scaled</a:t>
            </a:r>
            <a:r>
              <a:rPr lang="en-US" sz="1000">
                <a:latin typeface="Consolas" panose="020B0609020204030204" pitchFamily="49" charset="0"/>
              </a:rPr>
              <a:t>     0.000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rmsea.scaled</a:t>
            </a:r>
            <a:r>
              <a:rPr lang="en-US" sz="1000">
                <a:latin typeface="Consolas" panose="020B0609020204030204" pitchFamily="49" charset="0"/>
              </a:rPr>
              <a:t>      0.129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cfi.scaled</a:t>
            </a:r>
            <a:r>
              <a:rPr lang="en-US" sz="1000">
                <a:latin typeface="Consolas" panose="020B0609020204030204" pitchFamily="49" charset="0"/>
              </a:rPr>
              <a:t>        0.966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tli.scaled</a:t>
            </a:r>
            <a:r>
              <a:rPr lang="en-US" sz="1000">
                <a:latin typeface="Consolas" panose="020B0609020204030204" pitchFamily="49" charset="0"/>
              </a:rPr>
              <a:t>        0.941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srmr</a:t>
            </a:r>
            <a:r>
              <a:rPr lang="en-US" sz="1000">
                <a:latin typeface="Consolas" panose="020B0609020204030204" pitchFamily="49" charset="0"/>
              </a:rPr>
              <a:t>              0.040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rmsea.robust</a:t>
            </a:r>
            <a:r>
              <a:rPr lang="en-US" sz="1000">
                <a:latin typeface="Consolas" panose="020B0609020204030204" pitchFamily="49" charset="0"/>
              </a:rPr>
              <a:t>         NA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cfi.robust</a:t>
            </a:r>
            <a:r>
              <a:rPr lang="en-US" sz="1000">
                <a:latin typeface="Consolas" panose="020B0609020204030204" pitchFamily="49" charset="0"/>
              </a:rPr>
              <a:t>           NA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</a:t>
            </a:r>
            <a:r>
              <a:rPr lang="en-US" sz="1000" err="1">
                <a:latin typeface="Consolas" panose="020B0609020204030204" pitchFamily="49" charset="0"/>
              </a:rPr>
              <a:t>tli.robust</a:t>
            </a:r>
            <a:r>
              <a:rPr lang="en-US" sz="1000">
                <a:latin typeface="Consolas" panose="020B0609020204030204" pitchFamily="49" charset="0"/>
              </a:rPr>
              <a:t>           NA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#making a heatmap for factor loadings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dplyr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tidyr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library(ggplot2)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forcats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Convert loadings matrix to </a:t>
            </a:r>
            <a:r>
              <a:rPr lang="en-US" sz="1000" err="1">
                <a:latin typeface="Consolas" panose="020B0609020204030204" pitchFamily="49" charset="0"/>
              </a:rPr>
              <a:t>dataframe</a:t>
            </a:r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loadings_df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as.data.frame</a:t>
            </a:r>
            <a:r>
              <a:rPr lang="en-US" sz="1000">
                <a:latin typeface="Consolas" panose="020B0609020204030204" pitchFamily="49" charset="0"/>
              </a:rPr>
              <a:t>(fit_3$loadings)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loadings_df$Item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rownames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loadings_df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loadings_df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loadings_df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select(Item, f1, f2, f3)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Convert to long format and keep item order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load_long2 &lt;- </a:t>
            </a:r>
            <a:r>
              <a:rPr lang="en-US" sz="1000" err="1">
                <a:latin typeface="Consolas" panose="020B0609020204030204" pitchFamily="49" charset="0"/>
              </a:rPr>
              <a:t>loadings_df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pivot_longer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cols = c(f1, f2, f3),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names_to</a:t>
            </a:r>
            <a:r>
              <a:rPr lang="en-US" sz="1000">
                <a:latin typeface="Consolas" panose="020B0609020204030204" pitchFamily="49" charset="0"/>
              </a:rPr>
              <a:t> = "Factor",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values_to</a:t>
            </a:r>
            <a:r>
              <a:rPr lang="en-US" sz="1000">
                <a:latin typeface="Consolas" panose="020B0609020204030204" pitchFamily="49" charset="0"/>
              </a:rPr>
              <a:t> = "Loading"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)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mutate(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Loading = </a:t>
            </a:r>
            <a:r>
              <a:rPr lang="en-US" sz="1000" err="1">
                <a:latin typeface="Consolas" panose="020B0609020204030204" pitchFamily="49" charset="0"/>
              </a:rPr>
              <a:t>ifelse</a:t>
            </a:r>
            <a:r>
              <a:rPr lang="en-US" sz="1000">
                <a:latin typeface="Consolas" panose="020B0609020204030204" pitchFamily="49" charset="0"/>
              </a:rPr>
              <a:t>(abs(Loading) &lt; .30, NA, Loading),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Item = factor(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Item,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levels = rev(paste0("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", 1:14))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),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Factor = recode(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Factor,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f1 = "Propensity",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f2 = "Impulsivity",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f3 = "Suicidal Thoughts"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),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# Force order left → right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Factor = factor(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Factor,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levels = c(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"Propensity",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"Impulsivity",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"Suicidal Thoughts"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Heatmap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ggplot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load_long2,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aes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x = Factor,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y = Item,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fill = Loading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 +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geom_tile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color = NA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) +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geom_text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aes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label = </a:t>
            </a:r>
            <a:r>
              <a:rPr lang="en-US" sz="1000" err="1">
                <a:latin typeface="Consolas" panose="020B0609020204030204" pitchFamily="49" charset="0"/>
              </a:rPr>
              <a:t>ifelse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is.na(Loading),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"",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sub("^(-?)0\\.", "\\1.", </a:t>
            </a:r>
            <a:r>
              <a:rPr lang="en-US" sz="1000" err="1">
                <a:latin typeface="Consolas" panose="020B0609020204030204" pitchFamily="49" charset="0"/>
              </a:rPr>
              <a:t>sprintf</a:t>
            </a:r>
            <a:r>
              <a:rPr lang="en-US" sz="1000">
                <a:latin typeface="Consolas" panose="020B0609020204030204" pitchFamily="49" charset="0"/>
              </a:rPr>
              <a:t>("%.2f", Loading))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</a:t>
            </a:r>
            <a:r>
              <a:rPr lang="en-US" sz="1000" err="1">
                <a:latin typeface="Consolas" panose="020B0609020204030204" pitchFamily="49" charset="0"/>
              </a:rPr>
              <a:t>fontface</a:t>
            </a:r>
            <a:r>
              <a:rPr lang="en-US" sz="1000">
                <a:latin typeface="Consolas" panose="020B0609020204030204" pitchFamily="49" charset="0"/>
              </a:rPr>
              <a:t> = </a:t>
            </a:r>
            <a:r>
              <a:rPr lang="en-US" sz="1000" err="1">
                <a:latin typeface="Consolas" panose="020B0609020204030204" pitchFamily="49" charset="0"/>
              </a:rPr>
              <a:t>case_when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is.na(Loading) ~ "plain",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abs(Loading) &gt;= .70 ~ "bold",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TRUE ~ "plain"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size = 5.5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) +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scale_fill_gradientn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colors = c(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"#F8F4E8",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"#F0D98B",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"#EAAA00"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na.value</a:t>
            </a:r>
            <a:r>
              <a:rPr lang="en-US" sz="1000">
                <a:latin typeface="Consolas" panose="020B0609020204030204" pitchFamily="49" charset="0"/>
              </a:rPr>
              <a:t> = "white"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 +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labs(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title = NULL,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x = NULL,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y = NULL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) +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theme_minimal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base_size</a:t>
            </a:r>
            <a:r>
              <a:rPr lang="en-US" sz="1000">
                <a:latin typeface="Consolas" panose="020B0609020204030204" pitchFamily="49" charset="0"/>
              </a:rPr>
              <a:t> = 16) +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theme(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panel.grid</a:t>
            </a:r>
            <a:r>
              <a:rPr lang="en-US" sz="1000">
                <a:latin typeface="Consolas" panose="020B0609020204030204" pitchFamily="49" charset="0"/>
              </a:rPr>
              <a:t> = </a:t>
            </a:r>
            <a:r>
              <a:rPr lang="en-US" sz="1000" err="1">
                <a:latin typeface="Consolas" panose="020B0609020204030204" pitchFamily="49" charset="0"/>
              </a:rPr>
              <a:t>element_blank</a:t>
            </a:r>
            <a:r>
              <a:rPr lang="en-US" sz="1000">
                <a:latin typeface="Consolas" panose="020B0609020204030204" pitchFamily="49" charset="0"/>
              </a:rPr>
              <a:t>(),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panel.background</a:t>
            </a:r>
            <a:r>
              <a:rPr lang="en-US" sz="1000">
                <a:latin typeface="Consolas" panose="020B0609020204030204" pitchFamily="49" charset="0"/>
              </a:rPr>
              <a:t> = </a:t>
            </a:r>
            <a:r>
              <a:rPr lang="en-US" sz="1000" err="1">
                <a:latin typeface="Consolas" panose="020B0609020204030204" pitchFamily="49" charset="0"/>
              </a:rPr>
              <a:t>element_rect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fill = "white",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color = NA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),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plot.background</a:t>
            </a:r>
            <a:r>
              <a:rPr lang="en-US" sz="1000">
                <a:latin typeface="Consolas" panose="020B0609020204030204" pitchFamily="49" charset="0"/>
              </a:rPr>
              <a:t> = </a:t>
            </a:r>
            <a:r>
              <a:rPr lang="en-US" sz="1000" err="1">
                <a:latin typeface="Consolas" panose="020B0609020204030204" pitchFamily="49" charset="0"/>
              </a:rPr>
              <a:t>element_rect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fill = "white",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color = NA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),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# Title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plot.title</a:t>
            </a:r>
            <a:r>
              <a:rPr lang="en-US" sz="1000">
                <a:latin typeface="Consolas" panose="020B0609020204030204" pitchFamily="49" charset="0"/>
              </a:rPr>
              <a:t> = </a:t>
            </a:r>
            <a:r>
              <a:rPr lang="en-US" sz="1000" err="1">
                <a:latin typeface="Consolas" panose="020B0609020204030204" pitchFamily="49" charset="0"/>
              </a:rPr>
              <a:t>element_text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size = 20,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face = "bold",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</a:t>
            </a:r>
            <a:r>
              <a:rPr lang="en-US" sz="1000" err="1">
                <a:latin typeface="Consolas" panose="020B0609020204030204" pitchFamily="49" charset="0"/>
              </a:rPr>
              <a:t>hjust</a:t>
            </a:r>
            <a:r>
              <a:rPr lang="en-US" sz="1000">
                <a:latin typeface="Consolas" panose="020B0609020204030204" pitchFamily="49" charset="0"/>
              </a:rPr>
              <a:t> = 0.5,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margin = margin(b = 15)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),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plot.title.position</a:t>
            </a:r>
            <a:r>
              <a:rPr lang="en-US" sz="1000">
                <a:latin typeface="Consolas" panose="020B0609020204030204" pitchFamily="49" charset="0"/>
              </a:rPr>
              <a:t> = "plot",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# Factor labels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axis.text.x</a:t>
            </a:r>
            <a:r>
              <a:rPr lang="en-US" sz="1000">
                <a:latin typeface="Consolas" panose="020B0609020204030204" pitchFamily="49" charset="0"/>
              </a:rPr>
              <a:t> = </a:t>
            </a:r>
            <a:r>
              <a:rPr lang="en-US" sz="1000" err="1">
                <a:latin typeface="Consolas" panose="020B0609020204030204" pitchFamily="49" charset="0"/>
              </a:rPr>
              <a:t>element_text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size = 16,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face = "bold",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margin = margin(t = 12)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),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# Item labels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axis.text.y</a:t>
            </a:r>
            <a:r>
              <a:rPr lang="en-US" sz="1000">
                <a:latin typeface="Consolas" panose="020B0609020204030204" pitchFamily="49" charset="0"/>
              </a:rPr>
              <a:t> = </a:t>
            </a:r>
            <a:r>
              <a:rPr lang="en-US" sz="1000" err="1">
                <a:latin typeface="Consolas" panose="020B0609020204030204" pitchFamily="49" charset="0"/>
              </a:rPr>
              <a:t>element_text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size = 12,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face = "bold"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),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# Remove legend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legend.position</a:t>
            </a:r>
            <a:r>
              <a:rPr lang="en-US" sz="1000">
                <a:latin typeface="Consolas" panose="020B0609020204030204" pitchFamily="49" charset="0"/>
              </a:rPr>
              <a:t> = "none",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# Breathing room around plot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plot.margin</a:t>
            </a:r>
            <a:r>
              <a:rPr lang="en-US" sz="1000">
                <a:latin typeface="Consolas" panose="020B0609020204030204" pitchFamily="49" charset="0"/>
              </a:rPr>
              <a:t> = margin(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t = 15,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r = 15,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b = 15,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l = 15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</a:t>
            </a:r>
            <a:r>
              <a:rPr lang="en-US" sz="1000" err="1">
                <a:latin typeface="Consolas" panose="020B0609020204030204" pitchFamily="49" charset="0"/>
              </a:rPr>
              <a:t>ggsave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"CHRT_factor_structure.png",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width = 9,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height = 6,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dpi = 600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ggsave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"CHRT_factor_structure.png",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width = 12,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height = 7,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dpi = 600,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bg</a:t>
            </a:r>
            <a:r>
              <a:rPr lang="en-US" sz="1000">
                <a:latin typeface="Consolas" panose="020B0609020204030204" pitchFamily="49" charset="0"/>
              </a:rPr>
              <a:t> = "white"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IRT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#IRT Factor 1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mirt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F1_items &lt;- 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[, c(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"chrt1","chrt2","chrt3","chrt4",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"chrt5","chrt6","chrt7","chrt8","chrt9"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)]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grm_F1 &lt;- </a:t>
            </a:r>
            <a:r>
              <a:rPr lang="en-US" sz="1000" err="1">
                <a:latin typeface="Consolas" panose="020B0609020204030204" pitchFamily="49" charset="0"/>
              </a:rPr>
              <a:t>mirt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data = F1_items,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model = 1,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itemtype</a:t>
            </a:r>
            <a:r>
              <a:rPr lang="en-US" sz="1000">
                <a:latin typeface="Consolas" panose="020B0609020204030204" pitchFamily="49" charset="0"/>
              </a:rPr>
              <a:t> = "graded",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SE = TRUE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plot(grm_F1, type='trace', main='Factor 1',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</a:t>
            </a:r>
            <a:r>
              <a:rPr lang="en-US" sz="1000" err="1">
                <a:latin typeface="Consolas" panose="020B0609020204030204" pitchFamily="49" charset="0"/>
              </a:rPr>
              <a:t>theta_lim</a:t>
            </a:r>
            <a:r>
              <a:rPr lang="en-US" sz="1000">
                <a:latin typeface="Consolas" panose="020B0609020204030204" pitchFamily="49" charset="0"/>
              </a:rPr>
              <a:t>=c(-4,4), </a:t>
            </a:r>
            <a:r>
              <a:rPr lang="en-US" sz="1000" err="1">
                <a:latin typeface="Consolas" panose="020B0609020204030204" pitchFamily="49" charset="0"/>
              </a:rPr>
              <a:t>lwd</a:t>
            </a:r>
            <a:r>
              <a:rPr lang="en-US" sz="1000">
                <a:latin typeface="Consolas" panose="020B0609020204030204" pitchFamily="49" charset="0"/>
              </a:rPr>
              <a:t>=1,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</a:t>
            </a:r>
            <a:r>
              <a:rPr lang="en-US" sz="1000" err="1">
                <a:latin typeface="Consolas" panose="020B0609020204030204" pitchFamily="49" charset="0"/>
              </a:rPr>
              <a:t>par.settings</a:t>
            </a:r>
            <a:r>
              <a:rPr lang="en-US" sz="1000">
                <a:latin typeface="Consolas" panose="020B0609020204030204" pitchFamily="49" charset="0"/>
              </a:rPr>
              <a:t>=</a:t>
            </a:r>
            <a:r>
              <a:rPr lang="en-US" sz="1000" err="1">
                <a:latin typeface="Consolas" panose="020B0609020204030204" pitchFamily="49" charset="0"/>
              </a:rPr>
              <a:t>simpleTheme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lty</a:t>
            </a:r>
            <a:r>
              <a:rPr lang="en-US" sz="1000">
                <a:latin typeface="Consolas" panose="020B0609020204030204" pitchFamily="49" charset="0"/>
              </a:rPr>
              <a:t>=1:4,lwd=1))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plot(grm_F1, type='</a:t>
            </a:r>
            <a:r>
              <a:rPr lang="en-US" sz="1000" err="1">
                <a:latin typeface="Consolas" panose="020B0609020204030204" pitchFamily="49" charset="0"/>
              </a:rPr>
              <a:t>rxx</a:t>
            </a:r>
            <a:r>
              <a:rPr lang="en-US" sz="1000">
                <a:latin typeface="Consolas" panose="020B0609020204030204" pitchFamily="49" charset="0"/>
              </a:rPr>
              <a:t>',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</a:t>
            </a:r>
            <a:r>
              <a:rPr lang="en-US" sz="1000" err="1">
                <a:latin typeface="Consolas" panose="020B0609020204030204" pitchFamily="49" charset="0"/>
              </a:rPr>
              <a:t>theta_lim</a:t>
            </a:r>
            <a:r>
              <a:rPr lang="en-US" sz="1000">
                <a:latin typeface="Consolas" panose="020B0609020204030204" pitchFamily="49" charset="0"/>
              </a:rPr>
              <a:t>=c(-4,5),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main='Factor 1 Reliability')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fs_F1 &lt;- </a:t>
            </a:r>
            <a:r>
              <a:rPr lang="en-US" sz="1000" err="1">
                <a:latin typeface="Consolas" panose="020B0609020204030204" pitchFamily="49" charset="0"/>
              </a:rPr>
              <a:t>fscores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grm_F1,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full.scores</a:t>
            </a:r>
            <a:r>
              <a:rPr lang="en-US" sz="1000">
                <a:latin typeface="Consolas" panose="020B0609020204030204" pitchFamily="49" charset="0"/>
              </a:rPr>
              <a:t> = TRUE,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full.scores.SE = TRUE,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method = "EAP"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colnames</a:t>
            </a:r>
            <a:r>
              <a:rPr lang="en-US" sz="1000">
                <a:latin typeface="Consolas" panose="020B0609020204030204" pitchFamily="49" charset="0"/>
              </a:rPr>
              <a:t>(fs_F1)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F1_reliability &lt;- </a:t>
            </a:r>
            <a:r>
              <a:rPr lang="en-US" sz="1000" err="1">
                <a:latin typeface="Consolas" panose="020B0609020204030204" pitchFamily="49" charset="0"/>
              </a:rPr>
              <a:t>empirical_rxx</a:t>
            </a:r>
            <a:r>
              <a:rPr lang="en-US" sz="1000">
                <a:latin typeface="Consolas" panose="020B0609020204030204" pitchFamily="49" charset="0"/>
              </a:rPr>
              <a:t>(fs_F1)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cat("Factor 1 Empirical Reliability:",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round(F1_reliability, 3), "\n")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F1_params &lt;- </a:t>
            </a:r>
            <a:r>
              <a:rPr lang="en-US" sz="1000" err="1">
                <a:latin typeface="Consolas" panose="020B0609020204030204" pitchFamily="49" charset="0"/>
              </a:rPr>
              <a:t>coef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grm_F1,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IRTpars</a:t>
            </a:r>
            <a:r>
              <a:rPr lang="en-US" sz="1000">
                <a:latin typeface="Consolas" panose="020B0609020204030204" pitchFamily="49" charset="0"/>
              </a:rPr>
              <a:t> = TRUE,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simplify = TRUE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)$items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F1_params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#IRT Factor 2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F2_items &lt;- 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[, c(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"chrt10","chrt11"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)]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grm_F2 &lt;- </a:t>
            </a:r>
            <a:r>
              <a:rPr lang="en-US" sz="1000" err="1">
                <a:latin typeface="Consolas" panose="020B0609020204030204" pitchFamily="49" charset="0"/>
              </a:rPr>
              <a:t>mirt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data = F2_items,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model = 1,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itemtype</a:t>
            </a:r>
            <a:r>
              <a:rPr lang="en-US" sz="1000">
                <a:latin typeface="Consolas" panose="020B0609020204030204" pitchFamily="49" charset="0"/>
              </a:rPr>
              <a:t> = "graded",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SE = TRUE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plot(grm_F2, type='trace', main='Factor 2',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</a:t>
            </a:r>
            <a:r>
              <a:rPr lang="en-US" sz="1000" err="1">
                <a:latin typeface="Consolas" panose="020B0609020204030204" pitchFamily="49" charset="0"/>
              </a:rPr>
              <a:t>theta_lim</a:t>
            </a:r>
            <a:r>
              <a:rPr lang="en-US" sz="1000">
                <a:latin typeface="Consolas" panose="020B0609020204030204" pitchFamily="49" charset="0"/>
              </a:rPr>
              <a:t>=c(-4,4), </a:t>
            </a:r>
            <a:r>
              <a:rPr lang="en-US" sz="1000" err="1">
                <a:latin typeface="Consolas" panose="020B0609020204030204" pitchFamily="49" charset="0"/>
              </a:rPr>
              <a:t>lwd</a:t>
            </a:r>
            <a:r>
              <a:rPr lang="en-US" sz="1000">
                <a:latin typeface="Consolas" panose="020B0609020204030204" pitchFamily="49" charset="0"/>
              </a:rPr>
              <a:t>=1,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</a:t>
            </a:r>
            <a:r>
              <a:rPr lang="en-US" sz="1000" err="1">
                <a:latin typeface="Consolas" panose="020B0609020204030204" pitchFamily="49" charset="0"/>
              </a:rPr>
              <a:t>par.settings</a:t>
            </a:r>
            <a:r>
              <a:rPr lang="en-US" sz="1000">
                <a:latin typeface="Consolas" panose="020B0609020204030204" pitchFamily="49" charset="0"/>
              </a:rPr>
              <a:t>=</a:t>
            </a:r>
            <a:r>
              <a:rPr lang="en-US" sz="1000" err="1">
                <a:latin typeface="Consolas" panose="020B0609020204030204" pitchFamily="49" charset="0"/>
              </a:rPr>
              <a:t>simpleTheme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lty</a:t>
            </a:r>
            <a:r>
              <a:rPr lang="en-US" sz="1000">
                <a:latin typeface="Consolas" panose="020B0609020204030204" pitchFamily="49" charset="0"/>
              </a:rPr>
              <a:t>=1:4,lwd=1))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plot(grm_F2, type='</a:t>
            </a:r>
            <a:r>
              <a:rPr lang="en-US" sz="1000" err="1">
                <a:latin typeface="Consolas" panose="020B0609020204030204" pitchFamily="49" charset="0"/>
              </a:rPr>
              <a:t>rxx</a:t>
            </a:r>
            <a:r>
              <a:rPr lang="en-US" sz="1000">
                <a:latin typeface="Consolas" panose="020B0609020204030204" pitchFamily="49" charset="0"/>
              </a:rPr>
              <a:t>',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</a:t>
            </a:r>
            <a:r>
              <a:rPr lang="en-US" sz="1000" err="1">
                <a:latin typeface="Consolas" panose="020B0609020204030204" pitchFamily="49" charset="0"/>
              </a:rPr>
              <a:t>theta_lim</a:t>
            </a:r>
            <a:r>
              <a:rPr lang="en-US" sz="1000">
                <a:latin typeface="Consolas" panose="020B0609020204030204" pitchFamily="49" charset="0"/>
              </a:rPr>
              <a:t>=c(-4,5),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main='Factor 2 Reliability')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fs_F2 &lt;- </a:t>
            </a:r>
            <a:r>
              <a:rPr lang="en-US" sz="1000" err="1">
                <a:latin typeface="Consolas" panose="020B0609020204030204" pitchFamily="49" charset="0"/>
              </a:rPr>
              <a:t>fscores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grm_F2,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full.scores</a:t>
            </a:r>
            <a:r>
              <a:rPr lang="en-US" sz="1000">
                <a:latin typeface="Consolas" panose="020B0609020204030204" pitchFamily="49" charset="0"/>
              </a:rPr>
              <a:t> = TRUE,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full.scores.SE = TRUE,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method = "EAP"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colnames</a:t>
            </a:r>
            <a:r>
              <a:rPr lang="en-US" sz="1000">
                <a:latin typeface="Consolas" panose="020B0609020204030204" pitchFamily="49" charset="0"/>
              </a:rPr>
              <a:t>(fs_F2)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F2_reliability &lt;- </a:t>
            </a:r>
            <a:r>
              <a:rPr lang="en-US" sz="1000" err="1">
                <a:latin typeface="Consolas" panose="020B0609020204030204" pitchFamily="49" charset="0"/>
              </a:rPr>
              <a:t>empirical_rxx</a:t>
            </a:r>
            <a:r>
              <a:rPr lang="en-US" sz="1000">
                <a:latin typeface="Consolas" panose="020B0609020204030204" pitchFamily="49" charset="0"/>
              </a:rPr>
              <a:t>(fs_F2)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cat("Factor 2 Empirical Reliability:",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round(F2_reliability, 3), "\n")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F2_params &lt;- </a:t>
            </a:r>
            <a:r>
              <a:rPr lang="en-US" sz="1000" err="1">
                <a:latin typeface="Consolas" panose="020B0609020204030204" pitchFamily="49" charset="0"/>
              </a:rPr>
              <a:t>coef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grm_F2,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IRTpars</a:t>
            </a:r>
            <a:r>
              <a:rPr lang="en-US" sz="1000">
                <a:latin typeface="Consolas" panose="020B0609020204030204" pitchFamily="49" charset="0"/>
              </a:rPr>
              <a:t> = TRUE,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simplify = TRUE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)$items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F2_params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#IRT Factor 3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F3_items &lt;- </a:t>
            </a:r>
            <a:r>
              <a:rPr lang="en-US" sz="1000" err="1">
                <a:latin typeface="Consolas" panose="020B0609020204030204" pitchFamily="49" charset="0"/>
              </a:rPr>
              <a:t>chrt_items</a:t>
            </a:r>
            <a:r>
              <a:rPr lang="en-US" sz="1000">
                <a:latin typeface="Consolas" panose="020B0609020204030204" pitchFamily="49" charset="0"/>
              </a:rPr>
              <a:t>[, c(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"chrt12","chrt13","chrt14"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)]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grm_F3 &lt;- </a:t>
            </a:r>
            <a:r>
              <a:rPr lang="en-US" sz="1000" err="1">
                <a:latin typeface="Consolas" panose="020B0609020204030204" pitchFamily="49" charset="0"/>
              </a:rPr>
              <a:t>mirt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data = F3_items,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model = 1,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itemtype</a:t>
            </a:r>
            <a:r>
              <a:rPr lang="en-US" sz="1000">
                <a:latin typeface="Consolas" panose="020B0609020204030204" pitchFamily="49" charset="0"/>
              </a:rPr>
              <a:t> = "graded",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SE = TRUE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plot(grm_F3, type='trace', main='Factor 3',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</a:t>
            </a:r>
            <a:r>
              <a:rPr lang="en-US" sz="1000" err="1">
                <a:latin typeface="Consolas" panose="020B0609020204030204" pitchFamily="49" charset="0"/>
              </a:rPr>
              <a:t>theta_lim</a:t>
            </a:r>
            <a:r>
              <a:rPr lang="en-US" sz="1000">
                <a:latin typeface="Consolas" panose="020B0609020204030204" pitchFamily="49" charset="0"/>
              </a:rPr>
              <a:t>=c(-4,4), </a:t>
            </a:r>
            <a:r>
              <a:rPr lang="en-US" sz="1000" err="1">
                <a:latin typeface="Consolas" panose="020B0609020204030204" pitchFamily="49" charset="0"/>
              </a:rPr>
              <a:t>lwd</a:t>
            </a:r>
            <a:r>
              <a:rPr lang="en-US" sz="1000">
                <a:latin typeface="Consolas" panose="020B0609020204030204" pitchFamily="49" charset="0"/>
              </a:rPr>
              <a:t>=1,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</a:t>
            </a:r>
            <a:r>
              <a:rPr lang="en-US" sz="1000" err="1">
                <a:latin typeface="Consolas" panose="020B0609020204030204" pitchFamily="49" charset="0"/>
              </a:rPr>
              <a:t>par.settings</a:t>
            </a:r>
            <a:r>
              <a:rPr lang="en-US" sz="1000">
                <a:latin typeface="Consolas" panose="020B0609020204030204" pitchFamily="49" charset="0"/>
              </a:rPr>
              <a:t>=</a:t>
            </a:r>
            <a:r>
              <a:rPr lang="en-US" sz="1000" err="1">
                <a:latin typeface="Consolas" panose="020B0609020204030204" pitchFamily="49" charset="0"/>
              </a:rPr>
              <a:t>simpleTheme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lty</a:t>
            </a:r>
            <a:r>
              <a:rPr lang="en-US" sz="1000">
                <a:latin typeface="Consolas" panose="020B0609020204030204" pitchFamily="49" charset="0"/>
              </a:rPr>
              <a:t>=1:4,lwd=1))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plot(grm_F3, type='</a:t>
            </a:r>
            <a:r>
              <a:rPr lang="en-US" sz="1000" err="1">
                <a:latin typeface="Consolas" panose="020B0609020204030204" pitchFamily="49" charset="0"/>
              </a:rPr>
              <a:t>rxx</a:t>
            </a:r>
            <a:r>
              <a:rPr lang="en-US" sz="1000">
                <a:latin typeface="Consolas" panose="020B0609020204030204" pitchFamily="49" charset="0"/>
              </a:rPr>
              <a:t>',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</a:t>
            </a:r>
            <a:r>
              <a:rPr lang="en-US" sz="1000" err="1">
                <a:latin typeface="Consolas" panose="020B0609020204030204" pitchFamily="49" charset="0"/>
              </a:rPr>
              <a:t>theta_lim</a:t>
            </a:r>
            <a:r>
              <a:rPr lang="en-US" sz="1000">
                <a:latin typeface="Consolas" panose="020B0609020204030204" pitchFamily="49" charset="0"/>
              </a:rPr>
              <a:t>=c(-4,5),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main='Factor 3 Reliability')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fs_F3 &lt;- </a:t>
            </a:r>
            <a:r>
              <a:rPr lang="en-US" sz="1000" err="1">
                <a:latin typeface="Consolas" panose="020B0609020204030204" pitchFamily="49" charset="0"/>
              </a:rPr>
              <a:t>fscores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grm_F3,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full.scores</a:t>
            </a:r>
            <a:r>
              <a:rPr lang="en-US" sz="1000">
                <a:latin typeface="Consolas" panose="020B0609020204030204" pitchFamily="49" charset="0"/>
              </a:rPr>
              <a:t> = TRUE,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full.scores.SE = TRUE,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method = "EAP"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colnames</a:t>
            </a:r>
            <a:r>
              <a:rPr lang="en-US" sz="1000">
                <a:latin typeface="Consolas" panose="020B0609020204030204" pitchFamily="49" charset="0"/>
              </a:rPr>
              <a:t>(fs_F3)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F3_reliability &lt;- </a:t>
            </a:r>
            <a:r>
              <a:rPr lang="en-US" sz="1000" err="1">
                <a:latin typeface="Consolas" panose="020B0609020204030204" pitchFamily="49" charset="0"/>
              </a:rPr>
              <a:t>empirical_rxx</a:t>
            </a:r>
            <a:r>
              <a:rPr lang="en-US" sz="1000">
                <a:latin typeface="Consolas" panose="020B0609020204030204" pitchFamily="49" charset="0"/>
              </a:rPr>
              <a:t>(fs_F3)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cat("Factor 3 Empirical Reliability:",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round(F3_reliability, 3), "\n")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F3_params &lt;- </a:t>
            </a:r>
            <a:r>
              <a:rPr lang="en-US" sz="1000" err="1">
                <a:latin typeface="Consolas" panose="020B0609020204030204" pitchFamily="49" charset="0"/>
              </a:rPr>
              <a:t>coef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grm_F3,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IRTpars</a:t>
            </a:r>
            <a:r>
              <a:rPr lang="en-US" sz="1000">
                <a:latin typeface="Consolas" panose="020B0609020204030204" pitchFamily="49" charset="0"/>
              </a:rPr>
              <a:t> = TRUE,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simplify = TRUE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)$items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F3_params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#General Fit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M2(grm_F1, type = "C2", </a:t>
            </a:r>
            <a:r>
              <a:rPr lang="en-US" sz="1000" err="1">
                <a:latin typeface="Consolas" panose="020B0609020204030204" pitchFamily="49" charset="0"/>
              </a:rPr>
              <a:t>calcNULL</a:t>
            </a:r>
            <a:r>
              <a:rPr lang="en-US" sz="1000">
                <a:latin typeface="Consolas" panose="020B0609020204030204" pitchFamily="49" charset="0"/>
              </a:rPr>
              <a:t> = FALSE)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M2(grm_F2, type = "C2", </a:t>
            </a:r>
            <a:r>
              <a:rPr lang="en-US" sz="1000" err="1">
                <a:latin typeface="Consolas" panose="020B0609020204030204" pitchFamily="49" charset="0"/>
              </a:rPr>
              <a:t>calcNULL</a:t>
            </a:r>
            <a:r>
              <a:rPr lang="en-US" sz="1000">
                <a:latin typeface="Consolas" panose="020B0609020204030204" pitchFamily="49" charset="0"/>
              </a:rPr>
              <a:t> = FALSE)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M2(grm_F3, type = "C2", </a:t>
            </a:r>
            <a:r>
              <a:rPr lang="en-US" sz="1000" err="1">
                <a:latin typeface="Consolas" panose="020B0609020204030204" pitchFamily="49" charset="0"/>
              </a:rPr>
              <a:t>calcNULL</a:t>
            </a:r>
            <a:r>
              <a:rPr lang="en-US" sz="1000">
                <a:latin typeface="Consolas" panose="020B0609020204030204" pitchFamily="49" charset="0"/>
              </a:rPr>
              <a:t> = FALSE)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#Marginal Reliability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marginal_rxx</a:t>
            </a:r>
            <a:r>
              <a:rPr lang="en-US" sz="1000">
                <a:latin typeface="Consolas" panose="020B0609020204030204" pitchFamily="49" charset="0"/>
              </a:rPr>
              <a:t>(grm_F1)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marginal_rxx</a:t>
            </a:r>
            <a:r>
              <a:rPr lang="en-US" sz="1000">
                <a:latin typeface="Consolas" panose="020B0609020204030204" pitchFamily="49" charset="0"/>
              </a:rPr>
              <a:t>(grm_F2)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marginal_rxx</a:t>
            </a:r>
            <a:r>
              <a:rPr lang="en-US" sz="1000">
                <a:latin typeface="Consolas" panose="020B0609020204030204" pitchFamily="49" charset="0"/>
              </a:rPr>
              <a:t>(grm_F3)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#Conditional Reliability (have better ones later on)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plot(grm_F1, type = "</a:t>
            </a:r>
            <a:r>
              <a:rPr lang="en-US" sz="1000" err="1">
                <a:latin typeface="Consolas" panose="020B0609020204030204" pitchFamily="49" charset="0"/>
              </a:rPr>
              <a:t>rxx</a:t>
            </a:r>
            <a:r>
              <a:rPr lang="en-US" sz="1000">
                <a:latin typeface="Consolas" panose="020B0609020204030204" pitchFamily="49" charset="0"/>
              </a:rPr>
              <a:t>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plot(grm_F2, type = "</a:t>
            </a:r>
            <a:r>
              <a:rPr lang="en-US" sz="1000" err="1">
                <a:latin typeface="Consolas" panose="020B0609020204030204" pitchFamily="49" charset="0"/>
              </a:rPr>
              <a:t>rxx</a:t>
            </a:r>
            <a:r>
              <a:rPr lang="en-US" sz="1000">
                <a:latin typeface="Consolas" panose="020B0609020204030204" pitchFamily="49" charset="0"/>
              </a:rPr>
              <a:t>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plot(grm_F3, type = "</a:t>
            </a:r>
            <a:r>
              <a:rPr lang="en-US" sz="1000" err="1">
                <a:latin typeface="Consolas" panose="020B0609020204030204" pitchFamily="49" charset="0"/>
              </a:rPr>
              <a:t>rxx</a:t>
            </a:r>
            <a:r>
              <a:rPr lang="en-US" sz="1000">
                <a:latin typeface="Consolas" panose="020B0609020204030204" pitchFamily="49" charset="0"/>
              </a:rPr>
              <a:t>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Item fit statistics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F1_fit &lt;- </a:t>
            </a:r>
            <a:r>
              <a:rPr lang="en-US" sz="1000" err="1">
                <a:latin typeface="Consolas" panose="020B0609020204030204" pitchFamily="49" charset="0"/>
              </a:rPr>
              <a:t>itemfit</a:t>
            </a:r>
            <a:r>
              <a:rPr lang="en-US" sz="1000">
                <a:latin typeface="Consolas" panose="020B0609020204030204" pitchFamily="49" charset="0"/>
              </a:rPr>
              <a:t>(grm_F1, na.rm = TRUE)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View all item fit results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print(F1_fit)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Identify misfitting items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F1_misfit &lt;- subset(F1_fit, p.S_X2 &lt; .05)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Number of misfitting items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nrow</a:t>
            </a:r>
            <a:r>
              <a:rPr lang="en-US" sz="1000">
                <a:latin typeface="Consolas" panose="020B0609020204030204" pitchFamily="49" charset="0"/>
              </a:rPr>
              <a:t>(F1_misfit)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Display misfitting items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F1_misfit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Item fit statistics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F2_fit &lt;- </a:t>
            </a:r>
            <a:r>
              <a:rPr lang="en-US" sz="1000" err="1">
                <a:latin typeface="Consolas" panose="020B0609020204030204" pitchFamily="49" charset="0"/>
              </a:rPr>
              <a:t>itemfit</a:t>
            </a:r>
            <a:r>
              <a:rPr lang="en-US" sz="1000">
                <a:latin typeface="Consolas" panose="020B0609020204030204" pitchFamily="49" charset="0"/>
              </a:rPr>
              <a:t>(grm_F2, na.rm = TRUE)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View all item fit results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print(F2_fit)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Identify misfitting items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F2_misfit &lt;- subset(F2_fit, p.S_X2 &lt; .05)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Number of misfitting items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nrow</a:t>
            </a:r>
            <a:r>
              <a:rPr lang="en-US" sz="1000">
                <a:latin typeface="Consolas" panose="020B0609020204030204" pitchFamily="49" charset="0"/>
              </a:rPr>
              <a:t>(F2_misfit)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Display misfitting items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F2_misfit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Item fit statistics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F3_fit &lt;- </a:t>
            </a:r>
            <a:r>
              <a:rPr lang="en-US" sz="1000" err="1">
                <a:latin typeface="Consolas" panose="020B0609020204030204" pitchFamily="49" charset="0"/>
              </a:rPr>
              <a:t>itemfit</a:t>
            </a:r>
            <a:r>
              <a:rPr lang="en-US" sz="1000">
                <a:latin typeface="Consolas" panose="020B0609020204030204" pitchFamily="49" charset="0"/>
              </a:rPr>
              <a:t>(grm_F3, na.rm = TRUE)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View all item fit results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print(F3_fit)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Identify misfitting items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F3_misfit &lt;- subset(F3_fit, p.S_X2 &lt; .05)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Number of misfitting items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nrow</a:t>
            </a:r>
            <a:r>
              <a:rPr lang="en-US" sz="1000">
                <a:latin typeface="Consolas" panose="020B0609020204030204" pitchFamily="49" charset="0"/>
              </a:rPr>
              <a:t>(F3_misfit)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Display misfitting items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F3_misfit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#Information Curves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Factor 1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plot(grm_F1, type = "</a:t>
            </a:r>
            <a:r>
              <a:rPr lang="en-US" sz="1000" err="1">
                <a:latin typeface="Consolas" panose="020B0609020204030204" pitchFamily="49" charset="0"/>
              </a:rPr>
              <a:t>infotrace</a:t>
            </a:r>
            <a:r>
              <a:rPr lang="en-US" sz="1000">
                <a:latin typeface="Consolas" panose="020B0609020204030204" pitchFamily="49" charset="0"/>
              </a:rPr>
              <a:t>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plot(grm_F1, type = "info")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Factor 2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plot(grm_F2, type = "</a:t>
            </a:r>
            <a:r>
              <a:rPr lang="en-US" sz="1000" err="1">
                <a:latin typeface="Consolas" panose="020B0609020204030204" pitchFamily="49" charset="0"/>
              </a:rPr>
              <a:t>infotrace</a:t>
            </a:r>
            <a:r>
              <a:rPr lang="en-US" sz="1000">
                <a:latin typeface="Consolas" panose="020B0609020204030204" pitchFamily="49" charset="0"/>
              </a:rPr>
              <a:t>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plot(grm_F2, type = "info")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Factor 3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plot(grm_F3, type = "</a:t>
            </a:r>
            <a:r>
              <a:rPr lang="en-US" sz="1000" err="1">
                <a:latin typeface="Consolas" panose="020B0609020204030204" pitchFamily="49" charset="0"/>
              </a:rPr>
              <a:t>infotrace</a:t>
            </a:r>
            <a:r>
              <a:rPr lang="en-US" sz="1000">
                <a:latin typeface="Consolas" panose="020B0609020204030204" pitchFamily="49" charset="0"/>
              </a:rPr>
              <a:t>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plot(grm_F3, type = "info")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#{r Fancy reliability plot}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── Reliability plot function ─────────────────────────────────────────────────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plot_reliability</a:t>
            </a:r>
            <a:r>
              <a:rPr lang="en-US" sz="1000">
                <a:latin typeface="Consolas" panose="020B0609020204030204" pitchFamily="49" charset="0"/>
              </a:rPr>
              <a:t> &lt;- function(models, labels, colors = NULL,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     </a:t>
            </a:r>
            <a:r>
              <a:rPr lang="en-US" sz="1000" err="1">
                <a:latin typeface="Consolas" panose="020B0609020204030204" pitchFamily="49" charset="0"/>
              </a:rPr>
              <a:t>theta_range</a:t>
            </a:r>
            <a:r>
              <a:rPr lang="en-US" sz="1000">
                <a:latin typeface="Consolas" panose="020B0609020204030204" pitchFamily="49" charset="0"/>
              </a:rPr>
              <a:t> = c(-4, 5),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     threshold = 0.80,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     title = NULL) {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if (!</a:t>
            </a:r>
            <a:r>
              <a:rPr lang="en-US" sz="1000" err="1">
                <a:latin typeface="Consolas" panose="020B0609020204030204" pitchFamily="49" charset="0"/>
              </a:rPr>
              <a:t>is.list</a:t>
            </a:r>
            <a:r>
              <a:rPr lang="en-US" sz="1000">
                <a:latin typeface="Consolas" panose="020B0609020204030204" pitchFamily="49" charset="0"/>
              </a:rPr>
              <a:t>(models)) models &lt;- list(models)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if (length(models) != length(labels))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stop("models and labels must be the same length")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n_groups</a:t>
            </a:r>
            <a:r>
              <a:rPr lang="en-US" sz="1000">
                <a:latin typeface="Consolas" panose="020B0609020204030204" pitchFamily="49" charset="0"/>
              </a:rPr>
              <a:t> &lt;- length(models)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default_colors</a:t>
            </a:r>
            <a:r>
              <a:rPr lang="en-US" sz="1000">
                <a:latin typeface="Consolas" panose="020B0609020204030204" pitchFamily="49" charset="0"/>
              </a:rPr>
              <a:t> &lt;- c("#002855", "#D6604D", "#4DAC26", "#7B2D8B")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if (</a:t>
            </a:r>
            <a:r>
              <a:rPr lang="en-US" sz="1000" err="1">
                <a:latin typeface="Consolas" panose="020B0609020204030204" pitchFamily="49" charset="0"/>
              </a:rPr>
              <a:t>is.null</a:t>
            </a:r>
            <a:r>
              <a:rPr lang="en-US" sz="1000">
                <a:latin typeface="Consolas" panose="020B0609020204030204" pitchFamily="49" charset="0"/>
              </a:rPr>
              <a:t>(colors)) {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colors &lt;- </a:t>
            </a:r>
            <a:r>
              <a:rPr lang="en-US" sz="1000" err="1">
                <a:latin typeface="Consolas" panose="020B0609020204030204" pitchFamily="49" charset="0"/>
              </a:rPr>
              <a:t>setNames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default_colors</a:t>
            </a:r>
            <a:r>
              <a:rPr lang="en-US" sz="1000">
                <a:latin typeface="Consolas" panose="020B0609020204030204" pitchFamily="49" charset="0"/>
              </a:rPr>
              <a:t>[</a:t>
            </a:r>
            <a:r>
              <a:rPr lang="en-US" sz="1000" err="1">
                <a:latin typeface="Consolas" panose="020B0609020204030204" pitchFamily="49" charset="0"/>
              </a:rPr>
              <a:t>seq_len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n_groups</a:t>
            </a:r>
            <a:r>
              <a:rPr lang="en-US" sz="1000">
                <a:latin typeface="Consolas" panose="020B0609020204030204" pitchFamily="49" charset="0"/>
              </a:rPr>
              <a:t>)], labels)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} else {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colors &lt;- </a:t>
            </a:r>
            <a:r>
              <a:rPr lang="en-US" sz="1000" err="1">
                <a:latin typeface="Consolas" panose="020B0609020204030204" pitchFamily="49" charset="0"/>
              </a:rPr>
              <a:t>setNames</a:t>
            </a:r>
            <a:r>
              <a:rPr lang="en-US" sz="1000">
                <a:latin typeface="Consolas" panose="020B0609020204030204" pitchFamily="49" charset="0"/>
              </a:rPr>
              <a:t>(colors, labels)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theta_seq</a:t>
            </a:r>
            <a:r>
              <a:rPr lang="en-US" sz="1000">
                <a:latin typeface="Consolas" panose="020B0609020204030204" pitchFamily="49" charset="0"/>
              </a:rPr>
              <a:t> &lt;- seq(</a:t>
            </a:r>
            <a:r>
              <a:rPr lang="en-US" sz="1000" err="1">
                <a:latin typeface="Consolas" panose="020B0609020204030204" pitchFamily="49" charset="0"/>
              </a:rPr>
              <a:t>theta_range</a:t>
            </a:r>
            <a:r>
              <a:rPr lang="en-US" sz="1000">
                <a:latin typeface="Consolas" panose="020B0609020204030204" pitchFamily="49" charset="0"/>
              </a:rPr>
              <a:t>[1], </a:t>
            </a:r>
            <a:r>
              <a:rPr lang="en-US" sz="1000" err="1">
                <a:latin typeface="Consolas" panose="020B0609020204030204" pitchFamily="49" charset="0"/>
              </a:rPr>
              <a:t>theta_range</a:t>
            </a:r>
            <a:r>
              <a:rPr lang="en-US" sz="1000">
                <a:latin typeface="Consolas" panose="020B0609020204030204" pitchFamily="49" charset="0"/>
              </a:rPr>
              <a:t>[2], by = 0.01)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rxx_list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lapply</a:t>
            </a:r>
            <a:r>
              <a:rPr lang="en-US" sz="1000">
                <a:latin typeface="Consolas" panose="020B0609020204030204" pitchFamily="49" charset="0"/>
              </a:rPr>
              <a:t>(models, function(mod) {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info &lt;- </a:t>
            </a:r>
            <a:r>
              <a:rPr lang="en-US" sz="1000" err="1">
                <a:latin typeface="Consolas" panose="020B0609020204030204" pitchFamily="49" charset="0"/>
              </a:rPr>
              <a:t>testinfo</a:t>
            </a:r>
            <a:r>
              <a:rPr lang="en-US" sz="1000">
                <a:latin typeface="Consolas" panose="020B0609020204030204" pitchFamily="49" charset="0"/>
              </a:rPr>
              <a:t>(mod, Theta = matrix(</a:t>
            </a:r>
            <a:r>
              <a:rPr lang="en-US" sz="1000" err="1">
                <a:latin typeface="Consolas" panose="020B0609020204030204" pitchFamily="49" charset="0"/>
              </a:rPr>
              <a:t>theta_seq</a:t>
            </a:r>
            <a:r>
              <a:rPr lang="en-US" sz="1000">
                <a:latin typeface="Consolas" panose="020B0609020204030204" pitchFamily="49" charset="0"/>
              </a:rPr>
              <a:t>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info / (info + 1)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})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rxx_df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data.frame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theta = rep(</a:t>
            </a:r>
            <a:r>
              <a:rPr lang="en-US" sz="1000" err="1">
                <a:latin typeface="Consolas" panose="020B0609020204030204" pitchFamily="49" charset="0"/>
              </a:rPr>
              <a:t>theta_seq</a:t>
            </a:r>
            <a:r>
              <a:rPr lang="en-US" sz="1000">
                <a:latin typeface="Consolas" panose="020B0609020204030204" pitchFamily="49" charset="0"/>
              </a:rPr>
              <a:t>, </a:t>
            </a:r>
            <a:r>
              <a:rPr lang="en-US" sz="1000" err="1">
                <a:latin typeface="Consolas" panose="020B0609020204030204" pitchFamily="49" charset="0"/>
              </a:rPr>
              <a:t>n_groups</a:t>
            </a:r>
            <a:r>
              <a:rPr lang="en-US" sz="1000">
                <a:latin typeface="Consolas" panose="020B0609020204030204" pitchFamily="49" charset="0"/>
              </a:rPr>
              <a:t>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rxx</a:t>
            </a:r>
            <a:r>
              <a:rPr lang="en-US" sz="1000">
                <a:latin typeface="Consolas" panose="020B0609020204030204" pitchFamily="49" charset="0"/>
              </a:rPr>
              <a:t>   = </a:t>
            </a:r>
            <a:r>
              <a:rPr lang="en-US" sz="1000" err="1">
                <a:latin typeface="Consolas" panose="020B0609020204030204" pitchFamily="49" charset="0"/>
              </a:rPr>
              <a:t>unlist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rxx_list</a:t>
            </a:r>
            <a:r>
              <a:rPr lang="en-US" sz="1000">
                <a:latin typeface="Consolas" panose="020B0609020204030204" pitchFamily="49" charset="0"/>
              </a:rPr>
              <a:t>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group = rep(labels, each = length(</a:t>
            </a:r>
            <a:r>
              <a:rPr lang="en-US" sz="1000" err="1">
                <a:latin typeface="Consolas" panose="020B0609020204030204" pitchFamily="49" charset="0"/>
              </a:rPr>
              <a:t>theta_seq</a:t>
            </a:r>
            <a:r>
              <a:rPr lang="en-US" sz="1000">
                <a:latin typeface="Consolas" panose="020B0609020204030204" pitchFamily="49" charset="0"/>
              </a:rPr>
              <a:t>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rxx_df$group</a:t>
            </a:r>
            <a:r>
              <a:rPr lang="en-US" sz="1000">
                <a:latin typeface="Consolas" panose="020B0609020204030204" pitchFamily="49" charset="0"/>
              </a:rPr>
              <a:t> &lt;- factor(</a:t>
            </a:r>
            <a:r>
              <a:rPr lang="en-US" sz="1000" err="1">
                <a:latin typeface="Consolas" panose="020B0609020204030204" pitchFamily="49" charset="0"/>
              </a:rPr>
              <a:t>rxx_df$group</a:t>
            </a:r>
            <a:r>
              <a:rPr lang="en-US" sz="1000">
                <a:latin typeface="Consolas" panose="020B0609020204030204" pitchFamily="49" charset="0"/>
              </a:rPr>
              <a:t>, levels = labels)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find_crossings</a:t>
            </a:r>
            <a:r>
              <a:rPr lang="en-US" sz="1000">
                <a:latin typeface="Consolas" panose="020B0609020204030204" pitchFamily="49" charset="0"/>
              </a:rPr>
              <a:t> &lt;- function(theta, </a:t>
            </a:r>
            <a:r>
              <a:rPr lang="en-US" sz="1000" err="1">
                <a:latin typeface="Consolas" panose="020B0609020204030204" pitchFamily="49" charset="0"/>
              </a:rPr>
              <a:t>rxx</a:t>
            </a:r>
            <a:r>
              <a:rPr lang="en-US" sz="1000">
                <a:latin typeface="Consolas" panose="020B0609020204030204" pitchFamily="49" charset="0"/>
              </a:rPr>
              <a:t>, threshold) {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above     &lt;- </a:t>
            </a:r>
            <a:r>
              <a:rPr lang="en-US" sz="1000" err="1">
                <a:latin typeface="Consolas" panose="020B0609020204030204" pitchFamily="49" charset="0"/>
              </a:rPr>
              <a:t>rxx</a:t>
            </a:r>
            <a:r>
              <a:rPr lang="en-US" sz="1000">
                <a:latin typeface="Consolas" panose="020B0609020204030204" pitchFamily="49" charset="0"/>
              </a:rPr>
              <a:t> &gt;= threshold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crossings &lt;- which(diff(above) != 0)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if (length(crossings) == 0) return(numeric(0))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sapply</a:t>
            </a:r>
            <a:r>
              <a:rPr lang="en-US" sz="1000">
                <a:latin typeface="Consolas" panose="020B0609020204030204" pitchFamily="49" charset="0"/>
              </a:rPr>
              <a:t>(crossings, function(</a:t>
            </a:r>
            <a:r>
              <a:rPr lang="en-US" sz="1000" err="1">
                <a:latin typeface="Consolas" panose="020B0609020204030204" pitchFamily="49" charset="0"/>
              </a:rPr>
              <a:t>i</a:t>
            </a:r>
            <a:r>
              <a:rPr lang="en-US" sz="1000">
                <a:latin typeface="Consolas" panose="020B0609020204030204" pitchFamily="49" charset="0"/>
              </a:rPr>
              <a:t>) {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</a:t>
            </a:r>
            <a:r>
              <a:rPr lang="en-US" sz="1000" err="1">
                <a:latin typeface="Consolas" panose="020B0609020204030204" pitchFamily="49" charset="0"/>
              </a:rPr>
              <a:t>approx</a:t>
            </a:r>
            <a:r>
              <a:rPr lang="en-US" sz="1000">
                <a:latin typeface="Consolas" panose="020B0609020204030204" pitchFamily="49" charset="0"/>
              </a:rPr>
              <a:t>(x = </a:t>
            </a:r>
            <a:r>
              <a:rPr lang="en-US" sz="1000" err="1">
                <a:latin typeface="Consolas" panose="020B0609020204030204" pitchFamily="49" charset="0"/>
              </a:rPr>
              <a:t>rxx</a:t>
            </a:r>
            <a:r>
              <a:rPr lang="en-US" sz="1000">
                <a:latin typeface="Consolas" panose="020B0609020204030204" pitchFamily="49" charset="0"/>
              </a:rPr>
              <a:t>[</a:t>
            </a:r>
            <a:r>
              <a:rPr lang="en-US" sz="1000" err="1">
                <a:latin typeface="Consolas" panose="020B0609020204030204" pitchFamily="49" charset="0"/>
              </a:rPr>
              <a:t>i</a:t>
            </a:r>
            <a:r>
              <a:rPr lang="en-US" sz="1000">
                <a:latin typeface="Consolas" panose="020B0609020204030204" pitchFamily="49" charset="0"/>
              </a:rPr>
              <a:t>:(i+1)], y = theta[</a:t>
            </a:r>
            <a:r>
              <a:rPr lang="en-US" sz="1000" err="1">
                <a:latin typeface="Consolas" panose="020B0609020204030204" pitchFamily="49" charset="0"/>
              </a:rPr>
              <a:t>i</a:t>
            </a:r>
            <a:r>
              <a:rPr lang="en-US" sz="1000">
                <a:latin typeface="Consolas" panose="020B0609020204030204" pitchFamily="49" charset="0"/>
              </a:rPr>
              <a:t>:(i+1)], </a:t>
            </a:r>
            <a:r>
              <a:rPr lang="en-US" sz="1000" err="1">
                <a:latin typeface="Consolas" panose="020B0609020204030204" pitchFamily="49" charset="0"/>
              </a:rPr>
              <a:t>xout</a:t>
            </a:r>
            <a:r>
              <a:rPr lang="en-US" sz="1000">
                <a:latin typeface="Consolas" panose="020B0609020204030204" pitchFamily="49" charset="0"/>
              </a:rPr>
              <a:t> = threshold)$y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})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cross_list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lapply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seq_len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n_groups</a:t>
            </a:r>
            <a:r>
              <a:rPr lang="en-US" sz="1000">
                <a:latin typeface="Consolas" panose="020B0609020204030204" pitchFamily="49" charset="0"/>
              </a:rPr>
              <a:t>), function(</a:t>
            </a:r>
            <a:r>
              <a:rPr lang="en-US" sz="1000" err="1">
                <a:latin typeface="Consolas" panose="020B0609020204030204" pitchFamily="49" charset="0"/>
              </a:rPr>
              <a:t>i</a:t>
            </a:r>
            <a:r>
              <a:rPr lang="en-US" sz="1000">
                <a:latin typeface="Consolas" panose="020B0609020204030204" pitchFamily="49" charset="0"/>
              </a:rPr>
              <a:t>) {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cx &lt;- </a:t>
            </a:r>
            <a:r>
              <a:rPr lang="en-US" sz="1000" err="1">
                <a:latin typeface="Consolas" panose="020B0609020204030204" pitchFamily="49" charset="0"/>
              </a:rPr>
              <a:t>find_crossings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theta_seq</a:t>
            </a:r>
            <a:r>
              <a:rPr lang="en-US" sz="1000">
                <a:latin typeface="Consolas" panose="020B0609020204030204" pitchFamily="49" charset="0"/>
              </a:rPr>
              <a:t>, </a:t>
            </a:r>
            <a:r>
              <a:rPr lang="en-US" sz="1000" err="1">
                <a:latin typeface="Consolas" panose="020B0609020204030204" pitchFamily="49" charset="0"/>
              </a:rPr>
              <a:t>rxx_list</a:t>
            </a:r>
            <a:r>
              <a:rPr lang="en-US" sz="1000">
                <a:latin typeface="Consolas" panose="020B0609020204030204" pitchFamily="49" charset="0"/>
              </a:rPr>
              <a:t>[[</a:t>
            </a:r>
            <a:r>
              <a:rPr lang="en-US" sz="1000" err="1">
                <a:latin typeface="Consolas" panose="020B0609020204030204" pitchFamily="49" charset="0"/>
              </a:rPr>
              <a:t>i</a:t>
            </a:r>
            <a:r>
              <a:rPr lang="en-US" sz="1000">
                <a:latin typeface="Consolas" panose="020B0609020204030204" pitchFamily="49" charset="0"/>
              </a:rPr>
              <a:t>]], threshold)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if (length(cx) == 0) return(NULL)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data.frame</a:t>
            </a:r>
            <a:r>
              <a:rPr lang="en-US" sz="1000">
                <a:latin typeface="Consolas" panose="020B0609020204030204" pitchFamily="49" charset="0"/>
              </a:rPr>
              <a:t>(theta = cx, group = labels[</a:t>
            </a:r>
            <a:r>
              <a:rPr lang="en-US" sz="1000" err="1">
                <a:latin typeface="Consolas" panose="020B0609020204030204" pitchFamily="49" charset="0"/>
              </a:rPr>
              <a:t>i</a:t>
            </a:r>
            <a:r>
              <a:rPr lang="en-US" sz="1000">
                <a:latin typeface="Consolas" panose="020B0609020204030204" pitchFamily="49" charset="0"/>
              </a:rPr>
              <a:t>])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})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endpoints_df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do.call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rbind</a:t>
            </a:r>
            <a:r>
              <a:rPr lang="en-US" sz="1000">
                <a:latin typeface="Consolas" panose="020B0609020204030204" pitchFamily="49" charset="0"/>
              </a:rPr>
              <a:t>, Filter(Negate(</a:t>
            </a:r>
            <a:r>
              <a:rPr lang="en-US" sz="1000" err="1">
                <a:latin typeface="Consolas" panose="020B0609020204030204" pitchFamily="49" charset="0"/>
              </a:rPr>
              <a:t>is.null</a:t>
            </a:r>
            <a:r>
              <a:rPr lang="en-US" sz="1000">
                <a:latin typeface="Consolas" panose="020B0609020204030204" pitchFamily="49" charset="0"/>
              </a:rPr>
              <a:t>), </a:t>
            </a:r>
            <a:r>
              <a:rPr lang="en-US" sz="1000" err="1">
                <a:latin typeface="Consolas" panose="020B0609020204030204" pitchFamily="49" charset="0"/>
              </a:rPr>
              <a:t>cross_list</a:t>
            </a:r>
            <a:r>
              <a:rPr lang="en-US" sz="1000">
                <a:latin typeface="Consolas" panose="020B0609020204030204" pitchFamily="49" charset="0"/>
              </a:rPr>
              <a:t>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p &lt;- </a:t>
            </a:r>
            <a:r>
              <a:rPr lang="en-US" sz="1000" err="1">
                <a:latin typeface="Consolas" panose="020B0609020204030204" pitchFamily="49" charset="0"/>
              </a:rPr>
              <a:t>ggplot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rxx_df</a:t>
            </a:r>
            <a:r>
              <a:rPr lang="en-US" sz="1000">
                <a:latin typeface="Consolas" panose="020B0609020204030204" pitchFamily="49" charset="0"/>
              </a:rPr>
              <a:t>, </a:t>
            </a:r>
            <a:r>
              <a:rPr lang="en-US" sz="1000" err="1">
                <a:latin typeface="Consolas" panose="020B0609020204030204" pitchFamily="49" charset="0"/>
              </a:rPr>
              <a:t>aes</a:t>
            </a:r>
            <a:r>
              <a:rPr lang="en-US" sz="1000">
                <a:latin typeface="Consolas" panose="020B0609020204030204" pitchFamily="49" charset="0"/>
              </a:rPr>
              <a:t>(x = theta, y = </a:t>
            </a:r>
            <a:r>
              <a:rPr lang="en-US" sz="1000" err="1">
                <a:latin typeface="Consolas" panose="020B0609020204030204" pitchFamily="49" charset="0"/>
              </a:rPr>
              <a:t>rxx</a:t>
            </a:r>
            <a:r>
              <a:rPr lang="en-US" sz="1000">
                <a:latin typeface="Consolas" panose="020B0609020204030204" pitchFamily="49" charset="0"/>
              </a:rPr>
              <a:t>, color = group)) +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geom_line</a:t>
            </a:r>
            <a:r>
              <a:rPr lang="en-US" sz="1000">
                <a:latin typeface="Consolas" panose="020B0609020204030204" pitchFamily="49" charset="0"/>
              </a:rPr>
              <a:t>(linewidth = 1.1) +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geom_hline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yintercept</a:t>
            </a:r>
            <a:r>
              <a:rPr lang="en-US" sz="1000">
                <a:latin typeface="Consolas" panose="020B0609020204030204" pitchFamily="49" charset="0"/>
              </a:rPr>
              <a:t> = threshold, </a:t>
            </a:r>
            <a:r>
              <a:rPr lang="en-US" sz="1000" err="1">
                <a:latin typeface="Consolas" panose="020B0609020204030204" pitchFamily="49" charset="0"/>
              </a:rPr>
              <a:t>linetype</a:t>
            </a:r>
            <a:r>
              <a:rPr lang="en-US" sz="1000">
                <a:latin typeface="Consolas" panose="020B0609020204030204" pitchFamily="49" charset="0"/>
              </a:rPr>
              <a:t> = "dashed",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color = "black", linewidth = 0.7) +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scale_color_manual</a:t>
            </a:r>
            <a:r>
              <a:rPr lang="en-US" sz="1000">
                <a:latin typeface="Consolas" panose="020B0609020204030204" pitchFamily="49" charset="0"/>
              </a:rPr>
              <a:t>(values = colors) +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scale_x_continuous</a:t>
            </a:r>
            <a:r>
              <a:rPr lang="en-US" sz="1000">
                <a:latin typeface="Consolas" panose="020B0609020204030204" pitchFamily="49" charset="0"/>
              </a:rPr>
              <a:t>(limits = </a:t>
            </a:r>
            <a:r>
              <a:rPr lang="en-US" sz="1000" err="1">
                <a:latin typeface="Consolas" panose="020B0609020204030204" pitchFamily="49" charset="0"/>
              </a:rPr>
              <a:t>theta_range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breaks = seq(</a:t>
            </a:r>
            <a:r>
              <a:rPr lang="en-US" sz="1000" err="1">
                <a:latin typeface="Consolas" panose="020B0609020204030204" pitchFamily="49" charset="0"/>
              </a:rPr>
              <a:t>theta_range</a:t>
            </a:r>
            <a:r>
              <a:rPr lang="en-US" sz="1000">
                <a:latin typeface="Consolas" panose="020B0609020204030204" pitchFamily="49" charset="0"/>
              </a:rPr>
              <a:t>[1], </a:t>
            </a:r>
            <a:r>
              <a:rPr lang="en-US" sz="1000" err="1">
                <a:latin typeface="Consolas" panose="020B0609020204030204" pitchFamily="49" charset="0"/>
              </a:rPr>
              <a:t>theta_range</a:t>
            </a:r>
            <a:r>
              <a:rPr lang="en-US" sz="1000">
                <a:latin typeface="Consolas" panose="020B0609020204030204" pitchFamily="49" charset="0"/>
              </a:rPr>
              <a:t>[2] - 1,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                   by = 1)) +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scale_y_continuous</a:t>
            </a:r>
            <a:r>
              <a:rPr lang="en-US" sz="1000">
                <a:latin typeface="Consolas" panose="020B0609020204030204" pitchFamily="49" charset="0"/>
              </a:rPr>
              <a:t>(limits = c(0, 1.00), breaks = seq(0, 1, by = 0.25)) +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labs(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title = title,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x     = expression(theta),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y     = expression(r[xx]),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color = NULL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 +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theme_classic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base_size</a:t>
            </a:r>
            <a:r>
              <a:rPr lang="en-US" sz="1000">
                <a:latin typeface="Consolas" panose="020B0609020204030204" pitchFamily="49" charset="0"/>
              </a:rPr>
              <a:t> = 18) +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theme(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</a:t>
            </a:r>
            <a:r>
              <a:rPr lang="en-US" sz="1000" err="1">
                <a:latin typeface="Consolas" panose="020B0609020204030204" pitchFamily="49" charset="0"/>
              </a:rPr>
              <a:t>legend.position</a:t>
            </a:r>
            <a:r>
              <a:rPr lang="en-US" sz="1000">
                <a:latin typeface="Consolas" panose="020B0609020204030204" pitchFamily="49" charset="0"/>
              </a:rPr>
              <a:t>   = if (</a:t>
            </a:r>
            <a:r>
              <a:rPr lang="en-US" sz="1000" err="1">
                <a:latin typeface="Consolas" panose="020B0609020204030204" pitchFamily="49" charset="0"/>
              </a:rPr>
              <a:t>n_groups</a:t>
            </a:r>
            <a:r>
              <a:rPr lang="en-US" sz="1000">
                <a:latin typeface="Consolas" panose="020B0609020204030204" pitchFamily="49" charset="0"/>
              </a:rPr>
              <a:t> &gt; 1) c(0.15, 0.88) else "none",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</a:t>
            </a:r>
            <a:r>
              <a:rPr lang="en-US" sz="1000" err="1">
                <a:latin typeface="Consolas" panose="020B0609020204030204" pitchFamily="49" charset="0"/>
              </a:rPr>
              <a:t>legend.background</a:t>
            </a:r>
            <a:r>
              <a:rPr lang="en-US" sz="1000">
                <a:latin typeface="Consolas" panose="020B0609020204030204" pitchFamily="49" charset="0"/>
              </a:rPr>
              <a:t> = </a:t>
            </a:r>
            <a:r>
              <a:rPr lang="en-US" sz="1000" err="1">
                <a:latin typeface="Consolas" panose="020B0609020204030204" pitchFamily="49" charset="0"/>
              </a:rPr>
              <a:t>element_blank</a:t>
            </a:r>
            <a:r>
              <a:rPr lang="en-US" sz="1000">
                <a:latin typeface="Consolas" panose="020B0609020204030204" pitchFamily="49" charset="0"/>
              </a:rPr>
              <a:t>(),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</a:t>
            </a:r>
            <a:r>
              <a:rPr lang="en-US" sz="1000" err="1">
                <a:latin typeface="Consolas" panose="020B0609020204030204" pitchFamily="49" charset="0"/>
              </a:rPr>
              <a:t>plot.title</a:t>
            </a:r>
            <a:r>
              <a:rPr lang="en-US" sz="1000">
                <a:latin typeface="Consolas" panose="020B0609020204030204" pitchFamily="49" charset="0"/>
              </a:rPr>
              <a:t>        = </a:t>
            </a:r>
            <a:r>
              <a:rPr lang="en-US" sz="1000" err="1">
                <a:latin typeface="Consolas" panose="020B0609020204030204" pitchFamily="49" charset="0"/>
              </a:rPr>
              <a:t>element_text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hjust</a:t>
            </a:r>
            <a:r>
              <a:rPr lang="en-US" sz="1000">
                <a:latin typeface="Consolas" panose="020B0609020204030204" pitchFamily="49" charset="0"/>
              </a:rPr>
              <a:t> = 0.5, face = "bold")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if (!</a:t>
            </a:r>
            <a:r>
              <a:rPr lang="en-US" sz="1000" err="1">
                <a:latin typeface="Consolas" panose="020B0609020204030204" pitchFamily="49" charset="0"/>
              </a:rPr>
              <a:t>is.null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endpoints_df</a:t>
            </a:r>
            <a:r>
              <a:rPr lang="en-US" sz="1000">
                <a:latin typeface="Consolas" panose="020B0609020204030204" pitchFamily="49" charset="0"/>
              </a:rPr>
              <a:t>) &amp;&amp; </a:t>
            </a:r>
            <a:r>
              <a:rPr lang="en-US" sz="1000" err="1">
                <a:latin typeface="Consolas" panose="020B0609020204030204" pitchFamily="49" charset="0"/>
              </a:rPr>
              <a:t>nrow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endpoints_df</a:t>
            </a:r>
            <a:r>
              <a:rPr lang="en-US" sz="1000">
                <a:latin typeface="Consolas" panose="020B0609020204030204" pitchFamily="49" charset="0"/>
              </a:rPr>
              <a:t>) &gt; 0) {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</a:t>
            </a:r>
            <a:r>
              <a:rPr lang="en-US" sz="1000" err="1">
                <a:latin typeface="Consolas" panose="020B0609020204030204" pitchFamily="49" charset="0"/>
              </a:rPr>
              <a:t>endpoints_df$group</a:t>
            </a:r>
            <a:r>
              <a:rPr lang="en-US" sz="1000">
                <a:latin typeface="Consolas" panose="020B0609020204030204" pitchFamily="49" charset="0"/>
              </a:rPr>
              <a:t> &lt;- factor(</a:t>
            </a:r>
            <a:r>
              <a:rPr lang="en-US" sz="1000" err="1">
                <a:latin typeface="Consolas" panose="020B0609020204030204" pitchFamily="49" charset="0"/>
              </a:rPr>
              <a:t>endpoints_df$group</a:t>
            </a:r>
            <a:r>
              <a:rPr lang="en-US" sz="1000">
                <a:latin typeface="Consolas" panose="020B0609020204030204" pitchFamily="49" charset="0"/>
              </a:rPr>
              <a:t>, levels = labels)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p &lt;- p +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</a:t>
            </a:r>
            <a:r>
              <a:rPr lang="en-US" sz="1000" err="1">
                <a:latin typeface="Consolas" panose="020B0609020204030204" pitchFamily="49" charset="0"/>
              </a:rPr>
              <a:t>geom_vline</a:t>
            </a:r>
            <a:r>
              <a:rPr lang="en-US" sz="1000">
                <a:latin typeface="Consolas" panose="020B0609020204030204" pitchFamily="49" charset="0"/>
              </a:rPr>
              <a:t>(data        = </a:t>
            </a:r>
            <a:r>
              <a:rPr lang="en-US" sz="1000" err="1">
                <a:latin typeface="Consolas" panose="020B0609020204030204" pitchFamily="49" charset="0"/>
              </a:rPr>
              <a:t>endpoints_df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</a:t>
            </a:r>
            <a:r>
              <a:rPr lang="en-US" sz="1000" err="1">
                <a:latin typeface="Consolas" panose="020B0609020204030204" pitchFamily="49" charset="0"/>
              </a:rPr>
              <a:t>aes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xintercept</a:t>
            </a:r>
            <a:r>
              <a:rPr lang="en-US" sz="1000">
                <a:latin typeface="Consolas" panose="020B0609020204030204" pitchFamily="49" charset="0"/>
              </a:rPr>
              <a:t> = theta, color = group),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</a:t>
            </a:r>
            <a:r>
              <a:rPr lang="en-US" sz="1000" err="1">
                <a:latin typeface="Consolas" panose="020B0609020204030204" pitchFamily="49" charset="0"/>
              </a:rPr>
              <a:t>linetype</a:t>
            </a:r>
            <a:r>
              <a:rPr lang="en-US" sz="1000">
                <a:latin typeface="Consolas" panose="020B0609020204030204" pitchFamily="49" charset="0"/>
              </a:rPr>
              <a:t>    = 5,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         </a:t>
            </a:r>
            <a:r>
              <a:rPr lang="en-US" sz="1000" err="1">
                <a:latin typeface="Consolas" panose="020B0609020204030204" pitchFamily="49" charset="0"/>
              </a:rPr>
              <a:t>show.legend</a:t>
            </a:r>
            <a:r>
              <a:rPr lang="en-US" sz="1000">
                <a:latin typeface="Consolas" panose="020B0609020204030204" pitchFamily="49" charset="0"/>
              </a:rPr>
              <a:t> = FALSE) +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</a:t>
            </a:r>
            <a:r>
              <a:rPr lang="en-US" sz="1000" err="1">
                <a:latin typeface="Consolas" panose="020B0609020204030204" pitchFamily="49" charset="0"/>
              </a:rPr>
              <a:t>ggrepel</a:t>
            </a:r>
            <a:r>
              <a:rPr lang="en-US" sz="1000">
                <a:latin typeface="Consolas" panose="020B0609020204030204" pitchFamily="49" charset="0"/>
              </a:rPr>
              <a:t>::</a:t>
            </a:r>
            <a:r>
              <a:rPr lang="en-US" sz="1000" err="1">
                <a:latin typeface="Consolas" panose="020B0609020204030204" pitchFamily="49" charset="0"/>
              </a:rPr>
              <a:t>geom_label_repel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data          = </a:t>
            </a:r>
            <a:r>
              <a:rPr lang="en-US" sz="1000" err="1">
                <a:latin typeface="Consolas" panose="020B0609020204030204" pitchFamily="49" charset="0"/>
              </a:rPr>
              <a:t>endpoints_df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</a:t>
            </a:r>
            <a:r>
              <a:rPr lang="en-US" sz="1000" err="1">
                <a:latin typeface="Consolas" panose="020B0609020204030204" pitchFamily="49" charset="0"/>
              </a:rPr>
              <a:t>aes</a:t>
            </a:r>
            <a:r>
              <a:rPr lang="en-US" sz="1000">
                <a:latin typeface="Consolas" panose="020B0609020204030204" pitchFamily="49" charset="0"/>
              </a:rPr>
              <a:t>(x = theta, y = 0, label = </a:t>
            </a:r>
            <a:r>
              <a:rPr lang="en-US" sz="1000" err="1">
                <a:latin typeface="Consolas" panose="020B0609020204030204" pitchFamily="49" charset="0"/>
              </a:rPr>
              <a:t>sprintf</a:t>
            </a:r>
            <a:r>
              <a:rPr lang="en-US" sz="1000">
                <a:latin typeface="Consolas" panose="020B0609020204030204" pitchFamily="49" charset="0"/>
              </a:rPr>
              <a:t>("%.2f", theta), color = group),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</a:t>
            </a:r>
            <a:r>
              <a:rPr lang="en-US" sz="1000" err="1">
                <a:latin typeface="Consolas" panose="020B0609020204030204" pitchFamily="49" charset="0"/>
              </a:rPr>
              <a:t>label.size</a:t>
            </a:r>
            <a:r>
              <a:rPr lang="en-US" sz="1000">
                <a:latin typeface="Consolas" panose="020B0609020204030204" pitchFamily="49" charset="0"/>
              </a:rPr>
              <a:t>    = NA,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</a:t>
            </a:r>
            <a:r>
              <a:rPr lang="en-US" sz="1000" err="1">
                <a:latin typeface="Consolas" panose="020B0609020204030204" pitchFamily="49" charset="0"/>
              </a:rPr>
              <a:t>nudge_y</a:t>
            </a:r>
            <a:r>
              <a:rPr lang="en-US" sz="1000">
                <a:latin typeface="Consolas" panose="020B0609020204030204" pitchFamily="49" charset="0"/>
              </a:rPr>
              <a:t>       = 0.1,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</a:t>
            </a:r>
            <a:r>
              <a:rPr lang="en-US" sz="1000" err="1">
                <a:latin typeface="Consolas" panose="020B0609020204030204" pitchFamily="49" charset="0"/>
              </a:rPr>
              <a:t>box.padding</a:t>
            </a:r>
            <a:r>
              <a:rPr lang="en-US" sz="1000">
                <a:latin typeface="Consolas" panose="020B0609020204030204" pitchFamily="49" charset="0"/>
              </a:rPr>
              <a:t>   = 0.5,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</a:t>
            </a:r>
            <a:r>
              <a:rPr lang="en-US" sz="1000" err="1">
                <a:latin typeface="Consolas" panose="020B0609020204030204" pitchFamily="49" charset="0"/>
              </a:rPr>
              <a:t>point.padding</a:t>
            </a:r>
            <a:r>
              <a:rPr lang="en-US" sz="1000">
                <a:latin typeface="Consolas" panose="020B0609020204030204" pitchFamily="49" charset="0"/>
              </a:rPr>
              <a:t> = 0.3,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</a:t>
            </a:r>
            <a:r>
              <a:rPr lang="en-US" sz="1000" err="1">
                <a:latin typeface="Consolas" panose="020B0609020204030204" pitchFamily="49" charset="0"/>
              </a:rPr>
              <a:t>segment.color</a:t>
            </a:r>
            <a:r>
              <a:rPr lang="en-US" sz="1000">
                <a:latin typeface="Consolas" panose="020B0609020204030204" pitchFamily="49" charset="0"/>
              </a:rPr>
              <a:t> = NA,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  </a:t>
            </a:r>
            <a:r>
              <a:rPr lang="en-US" sz="1000" err="1">
                <a:latin typeface="Consolas" panose="020B0609020204030204" pitchFamily="49" charset="0"/>
              </a:rPr>
              <a:t>show.legend</a:t>
            </a:r>
            <a:r>
              <a:rPr lang="en-US" sz="1000">
                <a:latin typeface="Consolas" panose="020B0609020204030204" pitchFamily="49" charset="0"/>
              </a:rPr>
              <a:t>   = FALSE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  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return(p)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}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── Single curve: Factor 1 ─────────────────────────────────────────────────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plot_reliability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models = list(grm_F1),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labels = c("Factor 1"),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── Single curve: Factor 2 ─────────────────────────────────────────────────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plot_reliability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models = list(grm_F2),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labels = c("Factor 2")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 ── Single curve: Factor 2 ─────────────────────────────────────────────────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plot_reliability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models = list(grm_F3),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labels = c("Factor 3")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Convergent Validity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#reading in other files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readxl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phq</a:t>
            </a:r>
            <a:r>
              <a:rPr lang="en-US" sz="1000">
                <a:latin typeface="Consolas" panose="020B0609020204030204" pitchFamily="49" charset="0"/>
              </a:rPr>
              <a:t>  &lt;- </a:t>
            </a:r>
            <a:r>
              <a:rPr lang="en-US" sz="1000" err="1">
                <a:latin typeface="Consolas" panose="020B0609020204030204" pitchFamily="49" charset="0"/>
              </a:rPr>
              <a:t>read_xlsx</a:t>
            </a:r>
            <a:r>
              <a:rPr lang="en-US" sz="1000">
                <a:latin typeface="Consolas" panose="020B0609020204030204" pitchFamily="49" charset="0"/>
              </a:rPr>
              <a:t>("C:/Users/GBM003/OneDrive - Nationwide Children's Hospital/RISE_2026_datasets/PHQ_wide_nodup.xlsx")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psc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read_excel</a:t>
            </a:r>
            <a:r>
              <a:rPr lang="en-US" sz="1000">
                <a:latin typeface="Consolas" panose="020B0609020204030204" pitchFamily="49" charset="0"/>
              </a:rPr>
              <a:t>("C:/Users/GBM003/OneDrive - Nationwide Children's Hospital/RISE_2026_datasets/PSC17.WideData2026.06.11.xlsx")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#Changing name of CHRT 'Total' column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CHRT &lt;- CHRT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rename(</a:t>
            </a:r>
            <a:r>
              <a:rPr lang="en-US" sz="1000" err="1">
                <a:latin typeface="Consolas" panose="020B0609020204030204" pitchFamily="49" charset="0"/>
              </a:rPr>
              <a:t>chrt_total</a:t>
            </a:r>
            <a:r>
              <a:rPr lang="en-US" sz="1000">
                <a:latin typeface="Consolas" panose="020B0609020204030204" pitchFamily="49" charset="0"/>
              </a:rPr>
              <a:t> = `Total`)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#Changing name of PSC 'Total' column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psc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psc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rename(</a:t>
            </a:r>
            <a:r>
              <a:rPr lang="en-US" sz="1000" err="1">
                <a:latin typeface="Consolas" panose="020B0609020204030204" pitchFamily="49" charset="0"/>
              </a:rPr>
              <a:t>psc_total</a:t>
            </a:r>
            <a:r>
              <a:rPr lang="en-US" sz="1000">
                <a:latin typeface="Consolas" panose="020B0609020204030204" pitchFamily="49" charset="0"/>
              </a:rPr>
              <a:t> = `Total`)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#deleting all responses from participants after their first response (if have multiple inputs)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chrtmerge</a:t>
            </a:r>
            <a:r>
              <a:rPr lang="en-US" sz="1000">
                <a:latin typeface="Consolas" panose="020B0609020204030204" pitchFamily="49" charset="0"/>
              </a:rPr>
              <a:t> &lt;- CHRT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arrange(MRN, RECORDED_DATE)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distinct(MRN, .</a:t>
            </a:r>
            <a:r>
              <a:rPr lang="en-US" sz="1000" err="1">
                <a:latin typeface="Consolas" panose="020B0609020204030204" pitchFamily="49" charset="0"/>
              </a:rPr>
              <a:t>keep_all</a:t>
            </a:r>
            <a:r>
              <a:rPr lang="en-US" sz="1000">
                <a:latin typeface="Consolas" panose="020B0609020204030204" pitchFamily="49" charset="0"/>
              </a:rPr>
              <a:t> = TRUE) 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phqmerge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phq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arrange(MRN, RECORDED_DATE)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distinct(MRN, RECORDED_DATE, .</a:t>
            </a:r>
            <a:r>
              <a:rPr lang="en-US" sz="1000" err="1">
                <a:latin typeface="Consolas" panose="020B0609020204030204" pitchFamily="49" charset="0"/>
              </a:rPr>
              <a:t>keep_all</a:t>
            </a:r>
            <a:r>
              <a:rPr lang="en-US" sz="1000">
                <a:latin typeface="Consolas" panose="020B0609020204030204" pitchFamily="49" charset="0"/>
              </a:rPr>
              <a:t> = TRUE)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pscmerge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psc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arrange(MRN, RECORDED_DATE)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distinct(MRN, RECORDED_DATE, .</a:t>
            </a:r>
            <a:r>
              <a:rPr lang="en-US" sz="1000" err="1">
                <a:latin typeface="Consolas" panose="020B0609020204030204" pitchFamily="49" charset="0"/>
              </a:rPr>
              <a:t>keep_all</a:t>
            </a:r>
            <a:r>
              <a:rPr lang="en-US" sz="1000">
                <a:latin typeface="Consolas" panose="020B0609020204030204" pitchFamily="49" charset="0"/>
              </a:rPr>
              <a:t> = TRUE)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#merging the datasets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chrt_phq</a:t>
            </a:r>
            <a:r>
              <a:rPr lang="en-US" sz="1000">
                <a:latin typeface="Consolas" panose="020B0609020204030204" pitchFamily="49" charset="0"/>
              </a:rPr>
              <a:t> &lt;- merge(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chrtmerge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phqmerge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by = c("MRN", "RECORDED_DATE")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chrt_psc</a:t>
            </a:r>
            <a:r>
              <a:rPr lang="en-US" sz="1000">
                <a:latin typeface="Consolas" panose="020B0609020204030204" pitchFamily="49" charset="0"/>
              </a:rPr>
              <a:t> &lt;- merge(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chrtmerge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pscmerge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by = c("MRN", "RECORDED_DATE")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#deleting NA's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dplyr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chrt_psc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chrt_psc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filter(!is.na(</a:t>
            </a:r>
            <a:r>
              <a:rPr lang="en-US" sz="1000" err="1">
                <a:latin typeface="Consolas" panose="020B0609020204030204" pitchFamily="49" charset="0"/>
              </a:rPr>
              <a:t>psc_total</a:t>
            </a:r>
            <a:r>
              <a:rPr lang="en-US" sz="1000">
                <a:latin typeface="Consolas" panose="020B0609020204030204" pitchFamily="49" charset="0"/>
              </a:rPr>
              <a:t>))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chrt_phq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chrt_phq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filter(!is.na(PHQ8_total))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#Making sure everything is numeric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chrt_psc$chrt_total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as.numeric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chrt_psc$chrt_total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chrt_psc$psc_total</a:t>
            </a:r>
            <a:r>
              <a:rPr lang="en-US" sz="1000">
                <a:latin typeface="Consolas" panose="020B0609020204030204" pitchFamily="49" charset="0"/>
              </a:rPr>
              <a:t>  &lt;- </a:t>
            </a:r>
            <a:r>
              <a:rPr lang="en-US" sz="1000" err="1">
                <a:latin typeface="Consolas" panose="020B0609020204030204" pitchFamily="49" charset="0"/>
              </a:rPr>
              <a:t>as.numeric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chrt_psc$psc_total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chrt_phq$chrt_total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as.numeric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chrt_phq$chrt_total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chrt_phq$PHQ8_total &lt;- </a:t>
            </a:r>
            <a:r>
              <a:rPr lang="en-US" sz="1000" err="1">
                <a:latin typeface="Consolas" panose="020B0609020204030204" pitchFamily="49" charset="0"/>
              </a:rPr>
              <a:t>as.numeric</a:t>
            </a:r>
            <a:r>
              <a:rPr lang="en-US" sz="1000">
                <a:latin typeface="Consolas" panose="020B0609020204030204" pitchFamily="49" charset="0"/>
              </a:rPr>
              <a:t>(chrt_phq$PHQ8_total)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#running the correlations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cor.test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chrt_psc$chrt_total</a:t>
            </a:r>
            <a:r>
              <a:rPr lang="en-US" sz="1000">
                <a:latin typeface="Consolas" panose="020B0609020204030204" pitchFamily="49" charset="0"/>
              </a:rPr>
              <a:t>, </a:t>
            </a:r>
            <a:r>
              <a:rPr lang="en-US" sz="1000" err="1">
                <a:latin typeface="Consolas" panose="020B0609020204030204" pitchFamily="49" charset="0"/>
              </a:rPr>
              <a:t>chrt_psc$psc_total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#r=0.24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#95% CI [0.18, 0.30]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#p-value &lt;.001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#Correlations cont. 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cor.test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chrt_phq$chrt_total</a:t>
            </a:r>
            <a:r>
              <a:rPr lang="en-US" sz="1000">
                <a:latin typeface="Consolas" panose="020B0609020204030204" pitchFamily="49" charset="0"/>
              </a:rPr>
              <a:t>, chrt_phq$PHQ8_total)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#r=.66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#95% CI [0.58, 0.73]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#p-value &lt;.001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Demographic Information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#deleting all responses from participants after their first response (if have multiple inputs)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chrtdemo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arrange(MRN, RECORDED_DATE)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distinct(MRN, .</a:t>
            </a:r>
            <a:r>
              <a:rPr lang="en-US" sz="1000" err="1">
                <a:latin typeface="Consolas" panose="020B0609020204030204" pitchFamily="49" charset="0"/>
              </a:rPr>
              <a:t>keep_all</a:t>
            </a:r>
            <a:r>
              <a:rPr lang="en-US" sz="1000">
                <a:latin typeface="Consolas" panose="020B0609020204030204" pitchFamily="49" charset="0"/>
              </a:rPr>
              <a:t> = TRUE)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#merging 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 with participant demographics; only keeping the 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 participants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#reading in demographics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readr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demographics &lt;- read.csv(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"C:/Users/GBM003/Onedrive - Nationwide Children's Hospital/RISE_2026_datasets/Copy of demographics.csv")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chrtdemo$MRN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as.character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chrtdemo$MRN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demographics$MRN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as.character</a:t>
            </a:r>
            <a:r>
              <a:rPr lang="en-US" sz="1000">
                <a:latin typeface="Consolas" panose="020B0609020204030204" pitchFamily="49" charset="0"/>
              </a:rPr>
              <a:t>(</a:t>
            </a:r>
            <a:r>
              <a:rPr lang="en-US" sz="1000" err="1">
                <a:latin typeface="Consolas" panose="020B0609020204030204" pitchFamily="49" charset="0"/>
              </a:rPr>
              <a:t>demographics$MRN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#merging data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library(</a:t>
            </a:r>
            <a:r>
              <a:rPr lang="en-US" sz="1000" err="1">
                <a:latin typeface="Consolas" panose="020B0609020204030204" pitchFamily="49" charset="0"/>
              </a:rPr>
              <a:t>dplyr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finaldemo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left_join</a:t>
            </a:r>
            <a:r>
              <a:rPr lang="en-US" sz="1000">
                <a:latin typeface="Consolas" panose="020B0609020204030204" pitchFamily="49" charset="0"/>
              </a:rPr>
              <a:t>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</a:t>
            </a:r>
            <a:r>
              <a:rPr lang="en-US" sz="1000" err="1">
                <a:latin typeface="Consolas" panose="020B0609020204030204" pitchFamily="49" charset="0"/>
              </a:rPr>
              <a:t>chrtdemo</a:t>
            </a:r>
            <a:r>
              <a:rPr lang="en-US" sz="1000">
                <a:latin typeface="Consolas" panose="020B0609020204030204" pitchFamily="49" charset="0"/>
              </a:rPr>
              <a:t>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demographics,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by = c(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  "MRN" = "MRN")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#checking length and making demographic only of the </a:t>
            </a:r>
            <a:r>
              <a:rPr lang="en-US" sz="1000" err="1">
                <a:latin typeface="Consolas" panose="020B0609020204030204" pitchFamily="49" charset="0"/>
              </a:rPr>
              <a:t>chrt</a:t>
            </a:r>
            <a:r>
              <a:rPr lang="en-US" sz="1000">
                <a:latin typeface="Consolas" panose="020B0609020204030204" pitchFamily="49" charset="0"/>
              </a:rPr>
              <a:t> participant MRN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length(unique(</a:t>
            </a:r>
            <a:r>
              <a:rPr lang="en-US" sz="1000" err="1">
                <a:latin typeface="Consolas" panose="020B0609020204030204" pitchFamily="49" charset="0"/>
              </a:rPr>
              <a:t>finaldemo$MRN</a:t>
            </a:r>
            <a:r>
              <a:rPr lang="en-US" sz="1000">
                <a:latin typeface="Consolas" panose="020B0609020204030204" pitchFamily="49" charset="0"/>
              </a:rPr>
              <a:t>))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demo_only</a:t>
            </a:r>
            <a:r>
              <a:rPr lang="en-US" sz="1000">
                <a:latin typeface="Consolas" panose="020B0609020204030204" pitchFamily="49" charset="0"/>
              </a:rPr>
              <a:t> &lt;- </a:t>
            </a:r>
            <a:r>
              <a:rPr lang="en-US" sz="1000" err="1">
                <a:latin typeface="Consolas" panose="020B0609020204030204" pitchFamily="49" charset="0"/>
              </a:rPr>
              <a:t>finaldemo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select(MRN, AGE_AT_VISIT, GENDER, RACE)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distinct(MRN, .</a:t>
            </a:r>
            <a:r>
              <a:rPr lang="en-US" sz="1000" err="1">
                <a:latin typeface="Consolas" panose="020B0609020204030204" pitchFamily="49" charset="0"/>
              </a:rPr>
              <a:t>keep_all</a:t>
            </a:r>
            <a:r>
              <a:rPr lang="en-US" sz="1000">
                <a:latin typeface="Consolas" panose="020B0609020204030204" pitchFamily="49" charset="0"/>
              </a:rPr>
              <a:t> = TRUE)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summary(</a:t>
            </a:r>
            <a:r>
              <a:rPr lang="en-US" sz="1000" err="1">
                <a:latin typeface="Consolas" panose="020B0609020204030204" pitchFamily="49" charset="0"/>
              </a:rPr>
              <a:t>demo_only</a:t>
            </a:r>
            <a:r>
              <a:rPr lang="en-US" sz="1000">
                <a:latin typeface="Consolas" panose="020B0609020204030204" pitchFamily="49" charset="0"/>
              </a:rPr>
              <a:t>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```{r}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#running demographics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psych::describe(</a:t>
            </a:r>
            <a:r>
              <a:rPr lang="en-US" sz="1000" err="1">
                <a:latin typeface="Consolas" panose="020B0609020204030204" pitchFamily="49" charset="0"/>
              </a:rPr>
              <a:t>demo_only</a:t>
            </a:r>
            <a:r>
              <a:rPr lang="en-US" sz="1000">
                <a:latin typeface="Consolas" panose="020B0609020204030204" pitchFamily="49" charset="0"/>
              </a:rPr>
              <a:t>[, c("AGE_AT_VISIT")])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demo_only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count(GENDER)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mutate(Percent = round(100 * n/sum(n), 1))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r>
              <a:rPr lang="en-US" sz="1000" err="1">
                <a:latin typeface="Consolas" panose="020B0609020204030204" pitchFamily="49" charset="0"/>
              </a:rPr>
              <a:t>demo_only</a:t>
            </a:r>
            <a:r>
              <a:rPr lang="en-US" sz="1000">
                <a:latin typeface="Consolas" panose="020B0609020204030204" pitchFamily="49" charset="0"/>
              </a:rPr>
              <a:t>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count(RACE) %&gt;%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  mutate(Percent = round(100 * n/sum(n), 1))</a:t>
            </a:r>
          </a:p>
          <a:p>
            <a:pPr marL="167815"/>
            <a:r>
              <a:rPr lang="en-US" sz="1000">
                <a:latin typeface="Consolas" panose="020B0609020204030204" pitchFamily="49" charset="0"/>
              </a:rPr>
              <a:t>```</a:t>
            </a: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  <a:p>
            <a:pPr marL="167815"/>
            <a:endParaRPr lang="en-US" sz="1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37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5387343"/>
            <a:ext cx="32918400" cy="11460480"/>
          </a:xfrm>
        </p:spPr>
        <p:txBody>
          <a:bodyPr anchor="b"/>
          <a:lstStyle>
            <a:lvl1pPr algn="ctr">
              <a:defRPr sz="514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3"/>
            <a:ext cx="32918400" cy="7947657"/>
          </a:xfrm>
        </p:spPr>
        <p:txBody>
          <a:bodyPr/>
          <a:lstStyle>
            <a:lvl1pPr marL="0" indent="0" algn="ctr">
              <a:buNone/>
              <a:defRPr sz="2057"/>
            </a:lvl1pPr>
            <a:lvl2pPr marL="391866" indent="0" algn="ctr">
              <a:buNone/>
              <a:defRPr sz="1714"/>
            </a:lvl2pPr>
            <a:lvl3pPr marL="783732" indent="0" algn="ctr">
              <a:buNone/>
              <a:defRPr sz="1543"/>
            </a:lvl3pPr>
            <a:lvl4pPr marL="1175598" indent="0" algn="ctr">
              <a:buNone/>
              <a:defRPr sz="1371"/>
            </a:lvl4pPr>
            <a:lvl5pPr marL="1567464" indent="0" algn="ctr">
              <a:buNone/>
              <a:defRPr sz="1371"/>
            </a:lvl5pPr>
            <a:lvl6pPr marL="1959331" indent="0" algn="ctr">
              <a:buNone/>
              <a:defRPr sz="1371"/>
            </a:lvl6pPr>
            <a:lvl7pPr marL="2351197" indent="0" algn="ctr">
              <a:buNone/>
              <a:defRPr sz="1371"/>
            </a:lvl7pPr>
            <a:lvl8pPr marL="2743063" indent="0" algn="ctr">
              <a:buNone/>
              <a:defRPr sz="1371"/>
            </a:lvl8pPr>
            <a:lvl9pPr marL="3134929" indent="0" algn="ctr">
              <a:buNone/>
              <a:defRPr sz="137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8206746"/>
            <a:ext cx="37856160" cy="13693137"/>
          </a:xfrm>
        </p:spPr>
        <p:txBody>
          <a:bodyPr anchor="b"/>
          <a:lstStyle>
            <a:lvl1pPr>
              <a:defRPr sz="514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22029426"/>
            <a:ext cx="37856160" cy="7200897"/>
          </a:xfrm>
        </p:spPr>
        <p:txBody>
          <a:bodyPr/>
          <a:lstStyle>
            <a:lvl1pPr marL="0" indent="0">
              <a:buNone/>
              <a:defRPr sz="2057">
                <a:solidFill>
                  <a:schemeClr val="tx1">
                    <a:tint val="82000"/>
                  </a:schemeClr>
                </a:solidFill>
              </a:defRPr>
            </a:lvl1pPr>
            <a:lvl2pPr marL="391866" indent="0">
              <a:buNone/>
              <a:defRPr sz="1714">
                <a:solidFill>
                  <a:schemeClr val="tx1">
                    <a:tint val="82000"/>
                  </a:schemeClr>
                </a:solidFill>
              </a:defRPr>
            </a:lvl2pPr>
            <a:lvl3pPr marL="783732" indent="0">
              <a:buNone/>
              <a:defRPr sz="1543">
                <a:solidFill>
                  <a:schemeClr val="tx1">
                    <a:tint val="82000"/>
                  </a:schemeClr>
                </a:solidFill>
              </a:defRPr>
            </a:lvl3pPr>
            <a:lvl4pPr marL="1175598" indent="0">
              <a:buNone/>
              <a:defRPr sz="1371">
                <a:solidFill>
                  <a:schemeClr val="tx1">
                    <a:tint val="82000"/>
                  </a:schemeClr>
                </a:solidFill>
              </a:defRPr>
            </a:lvl4pPr>
            <a:lvl5pPr marL="1567464" indent="0">
              <a:buNone/>
              <a:defRPr sz="1371">
                <a:solidFill>
                  <a:schemeClr val="tx1">
                    <a:tint val="82000"/>
                  </a:schemeClr>
                </a:solidFill>
              </a:defRPr>
            </a:lvl5pPr>
            <a:lvl6pPr marL="1959331" indent="0">
              <a:buNone/>
              <a:defRPr sz="1371">
                <a:solidFill>
                  <a:schemeClr val="tx1">
                    <a:tint val="82000"/>
                  </a:schemeClr>
                </a:solidFill>
              </a:defRPr>
            </a:lvl6pPr>
            <a:lvl7pPr marL="2351197" indent="0">
              <a:buNone/>
              <a:defRPr sz="1371">
                <a:solidFill>
                  <a:schemeClr val="tx1">
                    <a:tint val="82000"/>
                  </a:schemeClr>
                </a:solidFill>
              </a:defRPr>
            </a:lvl7pPr>
            <a:lvl8pPr marL="2743063" indent="0">
              <a:buNone/>
              <a:defRPr sz="1371">
                <a:solidFill>
                  <a:schemeClr val="tx1">
                    <a:tint val="82000"/>
                  </a:schemeClr>
                </a:solidFill>
              </a:defRPr>
            </a:lvl8pPr>
            <a:lvl9pPr marL="3134929" indent="0">
              <a:buNone/>
              <a:defRPr sz="13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0" y="8069583"/>
            <a:ext cx="18568033" cy="3954777"/>
          </a:xfrm>
        </p:spPr>
        <p:txBody>
          <a:bodyPr anchor="b"/>
          <a:lstStyle>
            <a:lvl1pPr marL="0" indent="0">
              <a:buNone/>
              <a:defRPr sz="2057" b="1"/>
            </a:lvl1pPr>
            <a:lvl2pPr marL="391866" indent="0">
              <a:buNone/>
              <a:defRPr sz="1714" b="1"/>
            </a:lvl2pPr>
            <a:lvl3pPr marL="783732" indent="0">
              <a:buNone/>
              <a:defRPr sz="1543" b="1"/>
            </a:lvl3pPr>
            <a:lvl4pPr marL="1175598" indent="0">
              <a:buNone/>
              <a:defRPr sz="1371" b="1"/>
            </a:lvl4pPr>
            <a:lvl5pPr marL="1567464" indent="0">
              <a:buNone/>
              <a:defRPr sz="1371" b="1"/>
            </a:lvl5pPr>
            <a:lvl6pPr marL="1959331" indent="0">
              <a:buNone/>
              <a:defRPr sz="1371" b="1"/>
            </a:lvl6pPr>
            <a:lvl7pPr marL="2351197" indent="0">
              <a:buNone/>
              <a:defRPr sz="1371" b="1"/>
            </a:lvl7pPr>
            <a:lvl8pPr marL="2743063" indent="0">
              <a:buNone/>
              <a:defRPr sz="1371" b="1"/>
            </a:lvl8pPr>
            <a:lvl9pPr marL="3134929" indent="0">
              <a:buNone/>
              <a:defRPr sz="13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8069583"/>
            <a:ext cx="18659477" cy="3954777"/>
          </a:xfrm>
        </p:spPr>
        <p:txBody>
          <a:bodyPr anchor="b"/>
          <a:lstStyle>
            <a:lvl1pPr marL="0" indent="0">
              <a:buNone/>
              <a:defRPr sz="2057" b="1"/>
            </a:lvl1pPr>
            <a:lvl2pPr marL="391866" indent="0">
              <a:buNone/>
              <a:defRPr sz="1714" b="1"/>
            </a:lvl2pPr>
            <a:lvl3pPr marL="783732" indent="0">
              <a:buNone/>
              <a:defRPr sz="1543" b="1"/>
            </a:lvl3pPr>
            <a:lvl4pPr marL="1175598" indent="0">
              <a:buNone/>
              <a:defRPr sz="1371" b="1"/>
            </a:lvl4pPr>
            <a:lvl5pPr marL="1567464" indent="0">
              <a:buNone/>
              <a:defRPr sz="1371" b="1"/>
            </a:lvl5pPr>
            <a:lvl6pPr marL="1959331" indent="0">
              <a:buNone/>
              <a:defRPr sz="1371" b="1"/>
            </a:lvl6pPr>
            <a:lvl7pPr marL="2351197" indent="0">
              <a:buNone/>
              <a:defRPr sz="1371" b="1"/>
            </a:lvl7pPr>
            <a:lvl8pPr marL="2743063" indent="0">
              <a:buNone/>
              <a:defRPr sz="1371" b="1"/>
            </a:lvl8pPr>
            <a:lvl9pPr marL="3134929" indent="0">
              <a:buNone/>
              <a:defRPr sz="13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274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3"/>
            <a:ext cx="22219920" cy="23393400"/>
          </a:xfrm>
        </p:spPr>
        <p:txBody>
          <a:bodyPr/>
          <a:lstStyle>
            <a:lvl1pPr>
              <a:defRPr sz="2743"/>
            </a:lvl1pPr>
            <a:lvl2pPr>
              <a:defRPr sz="2400"/>
            </a:lvl2pPr>
            <a:lvl3pPr>
              <a:defRPr sz="2057"/>
            </a:lvl3pPr>
            <a:lvl4pPr>
              <a:defRPr sz="1714"/>
            </a:lvl4pPr>
            <a:lvl5pPr>
              <a:defRPr sz="1714"/>
            </a:lvl5pPr>
            <a:lvl6pPr>
              <a:defRPr sz="1714"/>
            </a:lvl6pPr>
            <a:lvl7pPr>
              <a:defRPr sz="1714"/>
            </a:lvl7pPr>
            <a:lvl8pPr>
              <a:defRPr sz="1714"/>
            </a:lvl8pPr>
            <a:lvl9pPr>
              <a:defRPr sz="17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3"/>
          </a:xfrm>
        </p:spPr>
        <p:txBody>
          <a:bodyPr/>
          <a:lstStyle>
            <a:lvl1pPr marL="0" indent="0">
              <a:buNone/>
              <a:defRPr sz="1371"/>
            </a:lvl1pPr>
            <a:lvl2pPr marL="391866" indent="0">
              <a:buNone/>
              <a:defRPr sz="1200"/>
            </a:lvl2pPr>
            <a:lvl3pPr marL="783732" indent="0">
              <a:buNone/>
              <a:defRPr sz="1029"/>
            </a:lvl3pPr>
            <a:lvl4pPr marL="1175598" indent="0">
              <a:buNone/>
              <a:defRPr sz="857"/>
            </a:lvl4pPr>
            <a:lvl5pPr marL="1567464" indent="0">
              <a:buNone/>
              <a:defRPr sz="857"/>
            </a:lvl5pPr>
            <a:lvl6pPr marL="1959331" indent="0">
              <a:buNone/>
              <a:defRPr sz="857"/>
            </a:lvl6pPr>
            <a:lvl7pPr marL="2351197" indent="0">
              <a:buNone/>
              <a:defRPr sz="857"/>
            </a:lvl7pPr>
            <a:lvl8pPr marL="2743063" indent="0">
              <a:buNone/>
              <a:defRPr sz="857"/>
            </a:lvl8pPr>
            <a:lvl9pPr marL="3134929" indent="0">
              <a:buNone/>
              <a:defRPr sz="8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274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3"/>
            <a:ext cx="22219920" cy="23393400"/>
          </a:xfrm>
        </p:spPr>
        <p:txBody>
          <a:bodyPr anchor="t"/>
          <a:lstStyle>
            <a:lvl1pPr marL="0" indent="0">
              <a:buNone/>
              <a:defRPr sz="2743"/>
            </a:lvl1pPr>
            <a:lvl2pPr marL="391866" indent="0">
              <a:buNone/>
              <a:defRPr sz="2400"/>
            </a:lvl2pPr>
            <a:lvl3pPr marL="783732" indent="0">
              <a:buNone/>
              <a:defRPr sz="2057"/>
            </a:lvl3pPr>
            <a:lvl4pPr marL="1175598" indent="0">
              <a:buNone/>
              <a:defRPr sz="1714"/>
            </a:lvl4pPr>
            <a:lvl5pPr marL="1567464" indent="0">
              <a:buNone/>
              <a:defRPr sz="1714"/>
            </a:lvl5pPr>
            <a:lvl6pPr marL="1959331" indent="0">
              <a:buNone/>
              <a:defRPr sz="1714"/>
            </a:lvl6pPr>
            <a:lvl7pPr marL="2351197" indent="0">
              <a:buNone/>
              <a:defRPr sz="1714"/>
            </a:lvl7pPr>
            <a:lvl8pPr marL="2743063" indent="0">
              <a:buNone/>
              <a:defRPr sz="1714"/>
            </a:lvl8pPr>
            <a:lvl9pPr marL="3134929" indent="0">
              <a:buNone/>
              <a:defRPr sz="17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3"/>
          </a:xfrm>
        </p:spPr>
        <p:txBody>
          <a:bodyPr/>
          <a:lstStyle>
            <a:lvl1pPr marL="0" indent="0">
              <a:buNone/>
              <a:defRPr sz="1371"/>
            </a:lvl1pPr>
            <a:lvl2pPr marL="391866" indent="0">
              <a:buNone/>
              <a:defRPr sz="1200"/>
            </a:lvl2pPr>
            <a:lvl3pPr marL="783732" indent="0">
              <a:buNone/>
              <a:defRPr sz="1029"/>
            </a:lvl3pPr>
            <a:lvl4pPr marL="1175598" indent="0">
              <a:buNone/>
              <a:defRPr sz="857"/>
            </a:lvl4pPr>
            <a:lvl5pPr marL="1567464" indent="0">
              <a:buNone/>
              <a:defRPr sz="857"/>
            </a:lvl5pPr>
            <a:lvl6pPr marL="1959331" indent="0">
              <a:buNone/>
              <a:defRPr sz="857"/>
            </a:lvl6pPr>
            <a:lvl7pPr marL="2351197" indent="0">
              <a:buNone/>
              <a:defRPr sz="857"/>
            </a:lvl7pPr>
            <a:lvl8pPr marL="2743063" indent="0">
              <a:buNone/>
              <a:defRPr sz="857"/>
            </a:lvl8pPr>
            <a:lvl9pPr marL="3134929" indent="0">
              <a:buNone/>
              <a:defRPr sz="8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444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  <p15:guide id="2" pos="1382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3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3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3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.xml"/><Relationship Id="rId21" Type="http://schemas.openxmlformats.org/officeDocument/2006/relationships/image" Target="../media/image10.png"/><Relationship Id="rId42" Type="http://schemas.openxmlformats.org/officeDocument/2006/relationships/customXml" Target="../ink/ink19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2.xml"/><Relationship Id="rId7" Type="http://schemas.openxmlformats.org/officeDocument/2006/relationships/image" Target="../media/image3.png"/><Relationship Id="rId71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6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0.xml"/><Relationship Id="rId32" Type="http://schemas.openxmlformats.org/officeDocument/2006/relationships/customXml" Target="../ink/ink14.xml"/><Relationship Id="rId37" Type="http://schemas.openxmlformats.org/officeDocument/2006/relationships/image" Target="../media/image18.png"/><Relationship Id="rId40" Type="http://schemas.openxmlformats.org/officeDocument/2006/relationships/customXml" Target="../ink/ink18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7.xml"/><Relationship Id="rId66" Type="http://schemas.openxmlformats.org/officeDocument/2006/relationships/customXml" Target="../ink/ink31.xml"/><Relationship Id="rId5" Type="http://schemas.openxmlformats.org/officeDocument/2006/relationships/image" Target="../media/image2.jpe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13.png"/><Relationship Id="rId30" Type="http://schemas.openxmlformats.org/officeDocument/2006/relationships/customXml" Target="../ink/ink13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2.xml"/><Relationship Id="rId56" Type="http://schemas.openxmlformats.org/officeDocument/2006/relationships/customXml" Target="../ink/ink26.xml"/><Relationship Id="rId64" Type="http://schemas.openxmlformats.org/officeDocument/2006/relationships/customXml" Target="../ink/ink30.xml"/><Relationship Id="rId69" Type="http://schemas.openxmlformats.org/officeDocument/2006/relationships/image" Target="../media/image34.png"/><Relationship Id="rId8" Type="http://schemas.openxmlformats.org/officeDocument/2006/relationships/customXml" Target="../ink/ink2.xml"/><Relationship Id="rId51" Type="http://schemas.openxmlformats.org/officeDocument/2006/relationships/image" Target="../media/image25.png"/><Relationship Id="rId72" Type="http://schemas.openxmlformats.org/officeDocument/2006/relationships/image" Target="../media/image37.png"/><Relationship Id="rId3" Type="http://schemas.microsoft.com/office/2018/10/relationships/comments" Target="../comments/modernComment_189_E0C945A5.xml"/><Relationship Id="rId12" Type="http://schemas.openxmlformats.org/officeDocument/2006/relationships/customXml" Target="../ink/ink4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7.xml"/><Relationship Id="rId46" Type="http://schemas.openxmlformats.org/officeDocument/2006/relationships/customXml" Target="../ink/ink21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8.xml"/><Relationship Id="rId41" Type="http://schemas.openxmlformats.org/officeDocument/2006/relationships/image" Target="../media/image20.png"/><Relationship Id="rId54" Type="http://schemas.openxmlformats.org/officeDocument/2006/relationships/customXml" Target="../ink/ink25.xml"/><Relationship Id="rId62" Type="http://schemas.openxmlformats.org/officeDocument/2006/relationships/customXml" Target="../ink/ink29.xml"/><Relationship Id="rId70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2.xml"/><Relationship Id="rId36" Type="http://schemas.openxmlformats.org/officeDocument/2006/relationships/customXml" Target="../ink/ink16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3.xml"/><Relationship Id="rId31" Type="http://schemas.openxmlformats.org/officeDocument/2006/relationships/image" Target="../media/image15.png"/><Relationship Id="rId44" Type="http://schemas.openxmlformats.org/officeDocument/2006/relationships/customXml" Target="../ink/ink20.xml"/><Relationship Id="rId52" Type="http://schemas.openxmlformats.org/officeDocument/2006/relationships/customXml" Target="../ink/ink24.xml"/><Relationship Id="rId60" Type="http://schemas.openxmlformats.org/officeDocument/2006/relationships/customXml" Target="../ink/ink28.xml"/><Relationship Id="rId65" Type="http://schemas.openxmlformats.org/officeDocument/2006/relationships/image" Target="../media/image32.png"/><Relationship Id="rId4" Type="http://schemas.openxmlformats.org/officeDocument/2006/relationships/image" Target="../media/image1.jpeg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7.xml"/><Relationship Id="rId39" Type="http://schemas.openxmlformats.org/officeDocument/2006/relationships/image" Target="../media/image19.png"/><Relationship Id="rId34" Type="http://schemas.openxmlformats.org/officeDocument/2006/relationships/customXml" Target="../ink/ink15.xml"/><Relationship Id="rId50" Type="http://schemas.openxmlformats.org/officeDocument/2006/relationships/customXml" Target="../ink/ink23.xml"/><Relationship Id="rId5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A6915-1987-CFA4-F9D7-28EC1974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5B81484-14F0-A03C-B9A4-B2AAC65C6F39}"/>
              </a:ext>
            </a:extLst>
          </p:cNvPr>
          <p:cNvSpPr/>
          <p:nvPr/>
        </p:nvSpPr>
        <p:spPr>
          <a:xfrm>
            <a:off x="914400" y="685800"/>
            <a:ext cx="42017388" cy="4808510"/>
          </a:xfrm>
          <a:prstGeom prst="rect">
            <a:avLst/>
          </a:prstGeom>
          <a:solidFill>
            <a:srgbClr val="2F5D3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4843">
              <a:defRPr/>
            </a:pPr>
            <a:endParaRPr lang="en-US" sz="936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blue middle pane">
            <a:extLst>
              <a:ext uri="{FF2B5EF4-FFF2-40B4-BE49-F238E27FC236}">
                <a16:creationId xmlns:a16="http://schemas.microsoft.com/office/drawing/2014/main" id="{D8505E6F-4A9C-1501-5D48-CF15E34775C1}"/>
              </a:ext>
            </a:extLst>
          </p:cNvPr>
          <p:cNvSpPr>
            <a:spLocks/>
          </p:cNvSpPr>
          <p:nvPr/>
        </p:nvSpPr>
        <p:spPr>
          <a:xfrm>
            <a:off x="12055362" y="6337935"/>
            <a:ext cx="19504707" cy="25854096"/>
          </a:xfrm>
          <a:prstGeom prst="rect">
            <a:avLst/>
          </a:prstGeom>
          <a:solidFill>
            <a:srgbClr val="2F5D3A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876132">
              <a:buClr>
                <a:srgbClr val="000000"/>
              </a:buClr>
              <a:defRPr/>
            </a:pPr>
            <a:endParaRPr lang="en-US" sz="1150" kern="0">
              <a:solidFill>
                <a:prstClr val="white"/>
              </a:solidFill>
              <a:latin typeface="Calibri" panose="020F0502020204030204"/>
              <a:sym typeface="Arial"/>
            </a:endParaRPr>
          </a:p>
        </p:txBody>
      </p:sp>
      <p:sp>
        <p:nvSpPr>
          <p:cNvPr id="3" name="left pane">
            <a:extLst>
              <a:ext uri="{FF2B5EF4-FFF2-40B4-BE49-F238E27FC236}">
                <a16:creationId xmlns:a16="http://schemas.microsoft.com/office/drawing/2014/main" id="{5AE4617E-81C3-BAB5-F301-39C948BC6C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18" y="6342209"/>
            <a:ext cx="10077450" cy="2585085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6132">
              <a:buClr>
                <a:srgbClr val="000000"/>
              </a:buClr>
              <a:defRPr/>
            </a:pPr>
            <a:endParaRPr lang="en-US" sz="1150" kern="0">
              <a:solidFill>
                <a:prstClr val="white"/>
              </a:solidFill>
              <a:latin typeface="Calibri" panose="020F0502020204030204"/>
              <a:sym typeface="Arial"/>
            </a:endParaRPr>
          </a:p>
        </p:txBody>
      </p:sp>
      <p:sp>
        <p:nvSpPr>
          <p:cNvPr id="9" name="intro header">
            <a:extLst>
              <a:ext uri="{FF2B5EF4-FFF2-40B4-BE49-F238E27FC236}">
                <a16:creationId xmlns:a16="http://schemas.microsoft.com/office/drawing/2014/main" id="{E5C6BEE7-22A5-BE33-3E78-843551FCFC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7018" y="6338965"/>
            <a:ext cx="10077450" cy="942093"/>
          </a:xfrm>
          <a:prstGeom prst="rect">
            <a:avLst/>
          </a:prstGeom>
          <a:solidFill>
            <a:srgbClr val="B65F28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876132">
              <a:buClr>
                <a:srgbClr val="000000"/>
              </a:buClr>
              <a:defRPr/>
            </a:pPr>
            <a:r>
              <a:rPr lang="en-US" sz="4600" b="1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BACKGROUND</a:t>
            </a:r>
            <a:endParaRPr lang="en-US" sz="4600" b="1" kern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12" name="intro text">
            <a:extLst>
              <a:ext uri="{FF2B5EF4-FFF2-40B4-BE49-F238E27FC236}">
                <a16:creationId xmlns:a16="http://schemas.microsoft.com/office/drawing/2014/main" id="{25CA4F92-03F2-3452-2CFF-4C289A8258A0}"/>
              </a:ext>
            </a:extLst>
          </p:cNvPr>
          <p:cNvSpPr txBox="1">
            <a:spLocks/>
          </p:cNvSpPr>
          <p:nvPr/>
        </p:nvSpPr>
        <p:spPr>
          <a:xfrm>
            <a:off x="1338600" y="7656856"/>
            <a:ext cx="8994869" cy="8656216"/>
          </a:xfrm>
          <a:prstGeom prst="rect">
            <a:avLst/>
          </a:prstGeom>
          <a:noFill/>
          <a:ln w="57150"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defTabSz="64843">
              <a:spcAft>
                <a:spcPts val="34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highlight>
                  <a:srgbClr val="FFFFFF"/>
                </a:highlight>
                <a:latin typeface="Georgia"/>
                <a:ea typeface="Calibri" panose="020F0502020204030204"/>
                <a:cs typeface="Times New Roman"/>
              </a:rPr>
              <a:t>Suicide is a leading cause of death among young people in the United States</a:t>
            </a:r>
            <a:r>
              <a:rPr lang="en-US" sz="3200" baseline="30000" dirty="0">
                <a:highlight>
                  <a:srgbClr val="FFFFFF"/>
                </a:highlight>
                <a:latin typeface="Georgia"/>
                <a:ea typeface="Calibri" panose="020F0502020204030204"/>
                <a:cs typeface="Times New Roman"/>
              </a:rPr>
              <a:t>1</a:t>
            </a:r>
            <a:r>
              <a:rPr lang="en-US" sz="3200" dirty="0">
                <a:highlight>
                  <a:srgbClr val="FFFFFF"/>
                </a:highlight>
                <a:latin typeface="Georgia"/>
                <a:ea typeface="Calibri" panose="020F0502020204030204"/>
                <a:cs typeface="Times New Roman"/>
              </a:rPr>
              <a:t>. </a:t>
            </a:r>
            <a:endParaRPr lang="en-US" sz="3200" dirty="0">
              <a:latin typeface="Georgia"/>
              <a:ea typeface="Calibri" panose="020F0502020204030204"/>
              <a:cs typeface="Times New Roman"/>
            </a:endParaRPr>
          </a:p>
          <a:p>
            <a:pPr marL="457200" indent="-457200" defTabSz="64843">
              <a:spcAft>
                <a:spcPts val="34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highlight>
                  <a:srgbClr val="FFFFFF"/>
                </a:highlight>
                <a:latin typeface="Georgia"/>
                <a:ea typeface="Calibri" panose="020F0502020204030204"/>
                <a:cs typeface="Times New Roman"/>
              </a:rPr>
              <a:t>The Appalachian region experiences unique challenges that may contribute to suicide risk</a:t>
            </a:r>
            <a:r>
              <a:rPr lang="en-US" sz="3200" baseline="30000" dirty="0">
                <a:highlight>
                  <a:srgbClr val="FFFFFF"/>
                </a:highlight>
                <a:latin typeface="Georgia"/>
                <a:ea typeface="Calibri" panose="020F0502020204030204"/>
                <a:cs typeface="Times New Roman"/>
              </a:rPr>
              <a:t>2, 3</a:t>
            </a:r>
            <a:r>
              <a:rPr lang="en-US" sz="3200" dirty="0">
                <a:highlight>
                  <a:srgbClr val="FFFFFF"/>
                </a:highlight>
                <a:latin typeface="Georgia"/>
                <a:ea typeface="Calibri" panose="020F0502020204030204"/>
                <a:cs typeface="Times New Roman"/>
              </a:rPr>
              <a:t>.</a:t>
            </a:r>
            <a:endParaRPr lang="en-US" sz="3200">
              <a:latin typeface="Georgia"/>
              <a:ea typeface="Calibri" panose="020F0502020204030204"/>
              <a:cs typeface="Times New Roman"/>
            </a:endParaRPr>
          </a:p>
          <a:p>
            <a:pPr marL="457200" indent="-457200" defTabSz="64843">
              <a:spcAft>
                <a:spcPts val="34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highlight>
                  <a:srgbClr val="FFFFFF"/>
                </a:highlight>
                <a:latin typeface="Georgia"/>
                <a:ea typeface="Calibri" panose="020F0502020204030204"/>
                <a:cs typeface="Times New Roman"/>
              </a:rPr>
              <a:t>Despite these disparities, no study has examined youth suicide deaths across all Appalachian counties. </a:t>
            </a:r>
            <a:endParaRPr lang="en-US" sz="3200" dirty="0">
              <a:latin typeface="Georgia"/>
              <a:ea typeface="Calibri" panose="020F0502020204030204"/>
              <a:cs typeface="Times New Roman"/>
            </a:endParaRPr>
          </a:p>
          <a:p>
            <a:pPr marL="457200" indent="-457200" defTabSz="64843">
              <a:spcAft>
                <a:spcPts val="34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highlight>
                  <a:srgbClr val="FFFFFF"/>
                </a:highlight>
                <a:latin typeface="Georgia"/>
                <a:ea typeface="Calibri" panose="020F0502020204030204"/>
                <a:cs typeface="Times New Roman"/>
              </a:rPr>
              <a:t>The current study aimed to address this gap by:</a:t>
            </a:r>
            <a:endParaRPr lang="en-US" sz="3200" dirty="0">
              <a:latin typeface="Georgia"/>
              <a:ea typeface="Calibri" panose="020F0502020204030204"/>
              <a:cs typeface="Times New Roman"/>
            </a:endParaRPr>
          </a:p>
          <a:p>
            <a:pPr marL="971550" lvl="1" indent="-514350" defTabSz="64843">
              <a:spcAft>
                <a:spcPts val="340"/>
              </a:spcAft>
              <a:buAutoNum type="arabicParenR"/>
              <a:defRPr/>
            </a:pPr>
            <a:r>
              <a:rPr lang="en-US" sz="3200" dirty="0">
                <a:highlight>
                  <a:srgbClr val="FFFFFF"/>
                </a:highlight>
                <a:latin typeface="Georgia"/>
                <a:ea typeface="Calibri" panose="020F0502020204030204"/>
                <a:cs typeface="Times New Roman"/>
              </a:rPr>
              <a:t>developing a comprehensive understanding of the individual and clinical characteristics associated with suicide deaths among young people in Appalachia. </a:t>
            </a:r>
            <a:endParaRPr lang="en-US" sz="3200" dirty="0">
              <a:latin typeface="Georgia"/>
              <a:ea typeface="Calibri" panose="020F0502020204030204"/>
              <a:cs typeface="Times New Roman"/>
            </a:endParaRPr>
          </a:p>
          <a:p>
            <a:pPr marL="914400" lvl="1" indent="-457200" defTabSz="64843">
              <a:spcAft>
                <a:spcPts val="340"/>
              </a:spcAft>
              <a:buAutoNum type="arabicParenR"/>
              <a:defRPr/>
            </a:pPr>
            <a:r>
              <a:rPr lang="en-US" sz="3200" dirty="0">
                <a:highlight>
                  <a:srgbClr val="FFFFFF"/>
                </a:highlight>
                <a:latin typeface="Georgia"/>
                <a:ea typeface="Calibri" panose="020F0502020204030204"/>
                <a:cs typeface="Times New Roman"/>
              </a:rPr>
              <a:t>characterizing socioeconomic disparities and vulnerability among young suicide decedents in Appalachia. </a:t>
            </a:r>
            <a:endParaRPr lang="en-US" sz="3200" dirty="0">
              <a:latin typeface="Georgia"/>
              <a:ea typeface="Calibri" panose="020F0502020204030204"/>
              <a:cs typeface="Times New Roman"/>
            </a:endParaRPr>
          </a:p>
        </p:txBody>
      </p:sp>
      <p:sp>
        <p:nvSpPr>
          <p:cNvPr id="41" name="right pane">
            <a:extLst>
              <a:ext uri="{FF2B5EF4-FFF2-40B4-BE49-F238E27FC236}">
                <a16:creationId xmlns:a16="http://schemas.microsoft.com/office/drawing/2014/main" id="{71705D87-924C-CFF9-CE56-8B64EAFEBA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855535" y="6342209"/>
            <a:ext cx="10077450" cy="2585085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6132">
              <a:buClr>
                <a:srgbClr val="000000"/>
              </a:buClr>
              <a:defRPr/>
            </a:pPr>
            <a:endParaRPr lang="en-US" sz="1150" kern="0">
              <a:solidFill>
                <a:prstClr val="white"/>
              </a:solidFill>
              <a:latin typeface="Calibri" panose="020F0502020204030204"/>
              <a:sym typeface="Arial"/>
            </a:endParaRPr>
          </a:p>
        </p:txBody>
      </p:sp>
      <p:sp>
        <p:nvSpPr>
          <p:cNvPr id="58" name="results header">
            <a:extLst>
              <a:ext uri="{FF2B5EF4-FFF2-40B4-BE49-F238E27FC236}">
                <a16:creationId xmlns:a16="http://schemas.microsoft.com/office/drawing/2014/main" id="{4EC0598E-CD03-0DAA-5AB9-E88C28183E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855535" y="6337936"/>
            <a:ext cx="10077450" cy="942093"/>
          </a:xfrm>
          <a:prstGeom prst="rect">
            <a:avLst/>
          </a:prstGeom>
          <a:solidFill>
            <a:srgbClr val="B65F28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6132">
              <a:buClr>
                <a:srgbClr val="000000"/>
              </a:buClr>
              <a:defRPr/>
            </a:pPr>
            <a:r>
              <a:rPr lang="en-US" sz="4600" b="1" kern="0">
                <a:solidFill>
                  <a:schemeClr val="bg1"/>
                </a:solidFill>
                <a:cs typeface="Arial" panose="020B0604020202020204" pitchFamily="34" charset="0"/>
                <a:sym typeface="Arial"/>
              </a:rPr>
              <a:t>RESULTS</a:t>
            </a:r>
            <a:endParaRPr lang="en-US" sz="3831" kern="0">
              <a:solidFill>
                <a:schemeClr val="bg1"/>
              </a:solidFill>
              <a:cs typeface="Arial" panose="020B0604020202020204" pitchFamily="34" charset="0"/>
              <a:sym typeface="Arial"/>
            </a:endParaRPr>
          </a:p>
        </p:txBody>
      </p:sp>
      <p:sp>
        <p:nvSpPr>
          <p:cNvPr id="36" name="poster title">
            <a:extLst>
              <a:ext uri="{FF2B5EF4-FFF2-40B4-BE49-F238E27FC236}">
                <a16:creationId xmlns:a16="http://schemas.microsoft.com/office/drawing/2014/main" id="{44CF263E-3FA5-A384-8EFF-96105765684E}"/>
              </a:ext>
            </a:extLst>
          </p:cNvPr>
          <p:cNvSpPr txBox="1">
            <a:spLocks/>
          </p:cNvSpPr>
          <p:nvPr/>
        </p:nvSpPr>
        <p:spPr>
          <a:xfrm>
            <a:off x="1351432" y="1105954"/>
            <a:ext cx="27968299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2720" lvl="1" defTabSz="64843">
              <a:defRPr/>
            </a:pPr>
            <a:r>
              <a:rPr lang="en-US" sz="7200">
                <a:solidFill>
                  <a:schemeClr val="bg1"/>
                </a:solidFill>
                <a:latin typeface="Segoe UI"/>
                <a:cs typeface="Segoe UI"/>
              </a:rPr>
              <a:t>Characteristics of Appalachian Suicide Deaths in Young People: An NVDRS Analysis </a:t>
            </a:r>
          </a:p>
        </p:txBody>
      </p:sp>
      <p:sp>
        <p:nvSpPr>
          <p:cNvPr id="40" name="authors">
            <a:extLst>
              <a:ext uri="{FF2B5EF4-FFF2-40B4-BE49-F238E27FC236}">
                <a16:creationId xmlns:a16="http://schemas.microsoft.com/office/drawing/2014/main" id="{CC66CF60-E79F-9BF1-39ED-4FDF0E92F1F3}"/>
              </a:ext>
            </a:extLst>
          </p:cNvPr>
          <p:cNvSpPr txBox="1">
            <a:spLocks/>
          </p:cNvSpPr>
          <p:nvPr/>
        </p:nvSpPr>
        <p:spPr>
          <a:xfrm>
            <a:off x="1513528" y="3476671"/>
            <a:ext cx="28483269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876270">
              <a:defRPr/>
            </a:pPr>
            <a:r>
              <a:rPr lang="en-US" sz="3600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Gabrielle B. McColly</a:t>
            </a:r>
            <a:r>
              <a:rPr lang="en-US" sz="3600" kern="0" baseline="3000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1</a:t>
            </a:r>
            <a:r>
              <a:rPr lang="en-US" sz="3600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, Margaret V. Meyers</a:t>
            </a:r>
            <a:r>
              <a:rPr lang="en-US" sz="3600" kern="0" baseline="3000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2</a:t>
            </a:r>
            <a:r>
              <a:rPr lang="en-US" sz="3600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, Reagan M. Hicks</a:t>
            </a:r>
            <a:r>
              <a:rPr lang="en-US" sz="3600" kern="0" baseline="3000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1</a:t>
            </a:r>
            <a:r>
              <a:rPr lang="en-US" sz="3600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, Jonathan L. Doyle</a:t>
            </a:r>
            <a:r>
              <a:rPr lang="en-US" sz="3600" kern="0" baseline="3000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3</a:t>
            </a:r>
            <a:r>
              <a:rPr lang="en-US" sz="3600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, Laura J. Chavez, PhD</a:t>
            </a:r>
            <a:r>
              <a:rPr lang="en-US" sz="3600" kern="0" baseline="3000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1,4</a:t>
            </a:r>
            <a:r>
              <a:rPr lang="en-US" sz="3600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, Yinuo Liu¹, Eric A. Youngstrom, PhD</a:t>
            </a:r>
            <a:r>
              <a:rPr lang="en-US" sz="3600" kern="0" baseline="3000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1,4</a:t>
            </a:r>
            <a:r>
              <a:rPr lang="en-US" sz="3600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, Danielle L. Steelesmith, PhD</a:t>
            </a:r>
            <a:r>
              <a:rPr lang="en-US" sz="3600" kern="0" baseline="3000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1,4</a:t>
            </a:r>
            <a:endParaRPr lang="en-US" sz="3600" baseline="30000">
              <a:solidFill>
                <a:schemeClr val="bg1"/>
              </a:solidFill>
              <a:latin typeface="Segoe UI"/>
              <a:cs typeface="Segoe UI"/>
            </a:endParaRPr>
          </a:p>
          <a:p>
            <a:pPr defTabSz="876270">
              <a:lnSpc>
                <a:spcPct val="150000"/>
              </a:lnSpc>
              <a:defRPr/>
            </a:pPr>
            <a:r>
              <a:rPr lang="en-US" sz="2800" kern="0" baseline="3000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1</a:t>
            </a:r>
            <a:r>
              <a:rPr lang="en-US" sz="2800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Nationwide Children's Hospital ; </a:t>
            </a:r>
            <a:r>
              <a:rPr lang="en-US" sz="2800" kern="0" baseline="3000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2</a:t>
            </a:r>
            <a:r>
              <a:rPr lang="en-US" sz="2800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University of North Carolina at Chapel Hill ; </a:t>
            </a:r>
            <a:r>
              <a:rPr lang="en-US" sz="2800" kern="0" baseline="3000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3</a:t>
            </a:r>
            <a:r>
              <a:rPr lang="en-US" sz="2800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UC Berkeley School of Public Health; </a:t>
            </a:r>
            <a:r>
              <a:rPr lang="en-US" sz="2800" kern="0" baseline="3000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4</a:t>
            </a:r>
            <a:r>
              <a:rPr lang="en-US" sz="2800" kern="0">
                <a:solidFill>
                  <a:schemeClr val="bg1"/>
                </a:solidFill>
                <a:latin typeface="Segoe UI"/>
                <a:cs typeface="Segoe UI"/>
                <a:sym typeface="Arial"/>
              </a:rPr>
              <a:t>The Ohio State University College of Medicine</a:t>
            </a:r>
            <a:endParaRPr lang="en-US" sz="2800">
              <a:solidFill>
                <a:schemeClr val="bg1"/>
              </a:solidFill>
              <a:latin typeface="Segoe UI"/>
              <a:cs typeface="Segoe UI"/>
            </a:endParaRPr>
          </a:p>
          <a:p>
            <a:pPr defTabSz="876270">
              <a:defRPr/>
            </a:pPr>
            <a:endParaRPr lang="en-US" sz="3600" kern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28" name="intro header">
            <a:extLst>
              <a:ext uri="{FF2B5EF4-FFF2-40B4-BE49-F238E27FC236}">
                <a16:creationId xmlns:a16="http://schemas.microsoft.com/office/drawing/2014/main" id="{067B9447-5D0E-D153-30E1-22E03A2359B9}"/>
              </a:ext>
            </a:extLst>
          </p:cNvPr>
          <p:cNvSpPr/>
          <p:nvPr/>
        </p:nvSpPr>
        <p:spPr>
          <a:xfrm>
            <a:off x="956420" y="16871124"/>
            <a:ext cx="10077450" cy="942093"/>
          </a:xfrm>
          <a:prstGeom prst="rect">
            <a:avLst/>
          </a:prstGeom>
          <a:solidFill>
            <a:srgbClr val="B65F28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6132">
              <a:buClr>
                <a:srgbClr val="000000"/>
              </a:buClr>
              <a:defRPr/>
            </a:pPr>
            <a:r>
              <a:rPr lang="en-US" sz="4600" b="1" kern="0">
                <a:solidFill>
                  <a:schemeClr val="bg1"/>
                </a:solidFill>
                <a:cs typeface="Arial" panose="020B0604020202020204" pitchFamily="34" charset="0"/>
                <a:sym typeface="Arial"/>
              </a:rPr>
              <a:t>METHODS</a:t>
            </a:r>
            <a:endParaRPr lang="en-US" sz="3831" kern="0">
              <a:solidFill>
                <a:schemeClr val="bg1"/>
              </a:solidFill>
              <a:cs typeface="Arial" panose="020B0604020202020204" pitchFamily="34" charset="0"/>
              <a:sym typeface="Arial"/>
            </a:endParaRPr>
          </a:p>
        </p:txBody>
      </p:sp>
      <p:sp>
        <p:nvSpPr>
          <p:cNvPr id="29" name="results header">
            <a:extLst>
              <a:ext uri="{FF2B5EF4-FFF2-40B4-BE49-F238E27FC236}">
                <a16:creationId xmlns:a16="http://schemas.microsoft.com/office/drawing/2014/main" id="{56F114CF-E898-D63F-BF78-65ADC3582BFD}"/>
              </a:ext>
            </a:extLst>
          </p:cNvPr>
          <p:cNvSpPr/>
          <p:nvPr/>
        </p:nvSpPr>
        <p:spPr>
          <a:xfrm>
            <a:off x="32797653" y="25851813"/>
            <a:ext cx="10077450" cy="942093"/>
          </a:xfrm>
          <a:prstGeom prst="rect">
            <a:avLst/>
          </a:prstGeom>
          <a:solidFill>
            <a:srgbClr val="B65F28"/>
          </a:solidFill>
          <a:ln w="57150">
            <a:solidFill>
              <a:srgbClr val="0028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76132">
              <a:buClr>
                <a:srgbClr val="000000"/>
              </a:buClr>
              <a:defRPr/>
            </a:pPr>
            <a:r>
              <a:rPr lang="en-US" sz="4600" b="1" kern="0">
                <a:solidFill>
                  <a:schemeClr val="bg1"/>
                </a:solidFill>
                <a:cs typeface="Arial" panose="020B0604020202020204" pitchFamily="34" charset="0"/>
                <a:sym typeface="Arial"/>
              </a:rPr>
              <a:t>DISCUSSION</a:t>
            </a:r>
            <a:endParaRPr lang="en-US" sz="3831" kern="0">
              <a:solidFill>
                <a:schemeClr val="bg1"/>
              </a:solidFill>
              <a:cs typeface="Arial" panose="020B0604020202020204" pitchFamily="34" charset="0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99E40C-B241-CA40-3909-AD99EEBC23BA}"/>
              </a:ext>
            </a:extLst>
          </p:cNvPr>
          <p:cNvSpPr txBox="1"/>
          <p:nvPr/>
        </p:nvSpPr>
        <p:spPr>
          <a:xfrm>
            <a:off x="13424538" y="7318159"/>
            <a:ext cx="17008909" cy="110145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E8F0E8"/>
                </a:solidFill>
                <a:ea typeface="+mn-lt"/>
                <a:cs typeface="+mn-lt"/>
              </a:rPr>
              <a:t>Young suicide decedents in Appalachia were more likely to live in rural, socioeconomically vulnerable communities and less likely to have documented mental health concerns.</a:t>
            </a:r>
            <a:endParaRPr lang="en-US" sz="8800" b="1">
              <a:solidFill>
                <a:srgbClr val="E8F0E8"/>
              </a:solidFill>
            </a:endParaRPr>
          </a:p>
          <a:p>
            <a:pPr algn="ctr"/>
            <a:endParaRPr lang="en-US" sz="8800" b="1">
              <a:solidFill>
                <a:srgbClr val="000000"/>
              </a:solidFill>
            </a:endParaRPr>
          </a:p>
          <a:p>
            <a:pPr algn="ctr"/>
            <a:endParaRPr lang="en-US" sz="8800" b="1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28C571-A35D-8747-5285-5C7811483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4915" y="1756782"/>
            <a:ext cx="6623871" cy="264126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402AEE0-3EBE-27A4-C80B-24C0F3B35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6065" y="1774049"/>
            <a:ext cx="3148126" cy="265587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AF2DF7D-9B75-92A0-80D9-DBA62B7EB3A8}"/>
                  </a:ext>
                </a:extLst>
              </p14:cNvPr>
              <p14:cNvContentPartPr/>
              <p14:nvPr/>
            </p14:nvContentPartPr>
            <p14:xfrm flipH="1" flipV="1">
              <a:off x="36959451" y="13826585"/>
              <a:ext cx="1292759" cy="4983431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AF2DF7D-9B75-92A0-80D9-DBA62B7EB3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flipH="1" flipV="1">
                <a:off x="36941370" y="13808586"/>
                <a:ext cx="1328558" cy="50190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6782688-3E5B-5696-2459-26E367D18042}"/>
                  </a:ext>
                </a:extLst>
              </p14:cNvPr>
              <p14:cNvContentPartPr/>
              <p14:nvPr/>
            </p14:nvContentPartPr>
            <p14:xfrm rot="10800000" flipH="1" flipV="1">
              <a:off x="36769993" y="15554482"/>
              <a:ext cx="2607501" cy="2460101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6782688-3E5B-5696-2459-26E367D180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10800000" flipH="1" flipV="1">
                <a:off x="36706844" y="15490226"/>
                <a:ext cx="2733438" cy="25882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106F6E0-142E-C17A-D883-B28C5A11B987}"/>
                  </a:ext>
                </a:extLst>
              </p14:cNvPr>
              <p14:cNvContentPartPr/>
              <p14:nvPr/>
            </p14:nvContentPartPr>
            <p14:xfrm rot="12282808" flipH="1" flipV="1">
              <a:off x="36925000" y="16316393"/>
              <a:ext cx="1767570" cy="965386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106F6E0-142E-C17A-D883-B28C5A11B98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12282808" flipH="1" flipV="1">
                <a:off x="36861756" y="16249723"/>
                <a:ext cx="1893696" cy="1098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D8F63D4-BB63-0EB8-493C-37EB96BF67D5}"/>
                  </a:ext>
                </a:extLst>
              </p14:cNvPr>
              <p14:cNvContentPartPr/>
              <p14:nvPr/>
            </p14:nvContentPartPr>
            <p14:xfrm rot="9774773" flipH="1" flipV="1">
              <a:off x="37306400" y="12704308"/>
              <a:ext cx="1277896" cy="3304466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D8F63D4-BB63-0EB8-493C-37EB96BF67D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 rot="9774773" flipH="1" flipV="1">
                <a:off x="37297401" y="12695308"/>
                <a:ext cx="1295535" cy="33221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61C8662-523B-A12E-EBDB-5D356A071D82}"/>
                  </a:ext>
                </a:extLst>
              </p14:cNvPr>
              <p14:cNvContentPartPr/>
              <p14:nvPr/>
            </p14:nvContentPartPr>
            <p14:xfrm flipH="1" flipV="1">
              <a:off x="37149884" y="10562693"/>
              <a:ext cx="1351439" cy="99629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61C8662-523B-A12E-EBDB-5D356A071D8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 flipH="1" flipV="1">
                <a:off x="37140884" y="10553693"/>
                <a:ext cx="1369079" cy="9980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54B8A3E-3852-7187-E957-BAF248C3D4CD}"/>
                  </a:ext>
                </a:extLst>
              </p14:cNvPr>
              <p14:cNvContentPartPr/>
              <p14:nvPr/>
            </p14:nvContentPartPr>
            <p14:xfrm rot="543616" flipH="1" flipV="1">
              <a:off x="36780809" y="11593512"/>
              <a:ext cx="1437873" cy="7041606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54B8A3E-3852-7187-E957-BAF248C3D4C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 rot="543616" flipH="1" flipV="1">
                <a:off x="36771706" y="11584505"/>
                <a:ext cx="1455714" cy="7059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3018CD3-E22A-8577-5145-E80DF21985C3}"/>
                  </a:ext>
                </a:extLst>
              </p14:cNvPr>
              <p14:cNvContentPartPr/>
              <p14:nvPr/>
            </p14:nvContentPartPr>
            <p14:xfrm flipH="1" flipV="1">
              <a:off x="36977409" y="12278860"/>
              <a:ext cx="1323034" cy="5028791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3018CD3-E22A-8577-5145-E80DF21985C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 flipH="1" flipV="1">
                <a:off x="36968411" y="12269859"/>
                <a:ext cx="1340670" cy="5046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936883BB-6B33-C407-962D-BF2C785BB64C}"/>
                  </a:ext>
                </a:extLst>
              </p14:cNvPr>
              <p14:cNvContentPartPr/>
              <p14:nvPr/>
            </p14:nvContentPartPr>
            <p14:xfrm flipH="1" flipV="1">
              <a:off x="36940364" y="10326173"/>
              <a:ext cx="1333079" cy="99499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936883BB-6B33-C407-962D-BF2C785BB6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 flipH="1" flipV="1">
                <a:off x="36931366" y="10317173"/>
                <a:ext cx="1350714" cy="9967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9F5655C-2AF4-059B-6D3E-E9F61A0F8955}"/>
                  </a:ext>
                </a:extLst>
              </p14:cNvPr>
              <p14:cNvContentPartPr/>
              <p14:nvPr/>
            </p14:nvContentPartPr>
            <p14:xfrm flipH="1" flipV="1">
              <a:off x="37244924" y="12886540"/>
              <a:ext cx="1331999" cy="4966511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9F5655C-2AF4-059B-6D3E-E9F61A0F89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 flipH="1" flipV="1">
                <a:off x="37235845" y="12877514"/>
                <a:ext cx="1349793" cy="49842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69E02AC-1594-0A6D-B90D-7D3160518628}"/>
                  </a:ext>
                </a:extLst>
              </p14:cNvPr>
              <p14:cNvContentPartPr/>
              <p14:nvPr/>
            </p14:nvContentPartPr>
            <p14:xfrm flipH="1" flipV="1">
              <a:off x="36831644" y="11530002"/>
              <a:ext cx="1313999" cy="7400354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69E02AC-1594-0A6D-B90D-7D316051862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 flipH="1" flipV="1">
                <a:off x="36822644" y="11521002"/>
                <a:ext cx="1331639" cy="74179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6B315259-D6F7-57CA-9790-F251636F73D9}"/>
                  </a:ext>
                </a:extLst>
              </p14:cNvPr>
              <p14:cNvContentPartPr/>
              <p14:nvPr/>
            </p14:nvContentPartPr>
            <p14:xfrm flipH="1" flipV="1">
              <a:off x="36964809" y="12284260"/>
              <a:ext cx="1323034" cy="5015471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6B315259-D6F7-57CA-9790-F251636F73D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 flipH="1" flipV="1">
                <a:off x="36955811" y="12275258"/>
                <a:ext cx="1340670" cy="50331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585CA63-04BD-8566-E540-A53E866D1909}"/>
                  </a:ext>
                </a:extLst>
              </p14:cNvPr>
              <p14:cNvContentPartPr/>
              <p14:nvPr/>
            </p14:nvContentPartPr>
            <p14:xfrm flipH="1" flipV="1">
              <a:off x="36907604" y="9754470"/>
              <a:ext cx="1339199" cy="12381989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585CA63-04BD-8566-E540-A53E866D190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 flipH="1" flipV="1">
                <a:off x="36898604" y="9745470"/>
                <a:ext cx="1356839" cy="12399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04A8F93-F441-0D91-10C2-003B1EEEF677}"/>
                  </a:ext>
                </a:extLst>
              </p14:cNvPr>
              <p14:cNvContentPartPr/>
              <p14:nvPr/>
            </p14:nvContentPartPr>
            <p14:xfrm flipH="1" flipV="1">
              <a:off x="37148804" y="9678510"/>
              <a:ext cx="1333439" cy="12394949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04A8F93-F441-0D91-10C2-003B1EEEF67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 flipH="1" flipV="1">
                <a:off x="37139804" y="9669510"/>
                <a:ext cx="1351079" cy="12412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F9DF797-B13F-3887-337F-6A205BB1F08E}"/>
                  </a:ext>
                </a:extLst>
              </p14:cNvPr>
              <p14:cNvContentPartPr/>
              <p14:nvPr/>
            </p14:nvContentPartPr>
            <p14:xfrm flipH="1" flipV="1">
              <a:off x="36844708" y="10510842"/>
              <a:ext cx="1793136" cy="7396394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F9DF797-B13F-3887-337F-6A205BB1F08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 flipH="1" flipV="1">
                <a:off x="36835708" y="10501842"/>
                <a:ext cx="1810776" cy="74140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D31E5451-4BD2-C378-178F-A7021830EA45}"/>
                  </a:ext>
                </a:extLst>
              </p14:cNvPr>
              <p14:cNvContentPartPr/>
              <p14:nvPr/>
            </p14:nvContentPartPr>
            <p14:xfrm flipH="1" flipV="1">
              <a:off x="36956204" y="12231688"/>
              <a:ext cx="1320839" cy="2426967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D31E5451-4BD2-C378-178F-A7021830EA4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 flipH="1" flipV="1">
                <a:off x="36947142" y="12222625"/>
                <a:ext cx="1338600" cy="24447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3CB81BE-0114-CABB-F371-9D39D96CA69C}"/>
                  </a:ext>
                </a:extLst>
              </p14:cNvPr>
              <p14:cNvContentPartPr/>
              <p14:nvPr/>
            </p14:nvContentPartPr>
            <p14:xfrm flipH="1" flipV="1">
              <a:off x="36996489" y="9643253"/>
              <a:ext cx="1314394" cy="99589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3CB81BE-0114-CABB-F371-9D39D96CA69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 flipH="1" flipV="1">
                <a:off x="36987489" y="9634253"/>
                <a:ext cx="1332034" cy="9976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2596A27B-9744-AD70-4039-C2FFEB355E1A}"/>
                  </a:ext>
                </a:extLst>
              </p14:cNvPr>
              <p14:cNvContentPartPr/>
              <p14:nvPr/>
            </p14:nvContentPartPr>
            <p14:xfrm rot="19946400" flipH="1" flipV="1">
              <a:off x="37315883" y="9884085"/>
              <a:ext cx="1938890" cy="8259195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2596A27B-9744-AD70-4039-C2FFEB355E1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 rot="19946400" flipH="1" flipV="1">
                <a:off x="37306883" y="9875085"/>
                <a:ext cx="1956529" cy="82768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27" name="Ink 1026">
                <a:extLst>
                  <a:ext uri="{FF2B5EF4-FFF2-40B4-BE49-F238E27FC236}">
                    <a16:creationId xmlns:a16="http://schemas.microsoft.com/office/drawing/2014/main" id="{44E7F0F1-52EA-14A1-D3A7-C996FC8C6996}"/>
                  </a:ext>
                </a:extLst>
              </p14:cNvPr>
              <p14:cNvContentPartPr/>
              <p14:nvPr/>
            </p14:nvContentPartPr>
            <p14:xfrm flipH="1" flipV="1">
              <a:off x="36953324" y="12344008"/>
              <a:ext cx="1338479" cy="2413287"/>
            </p14:xfrm>
          </p:contentPart>
        </mc:Choice>
        <mc:Fallback xmlns="">
          <p:pic>
            <p:nvPicPr>
              <p:cNvPr id="1027" name="Ink 1026">
                <a:extLst>
                  <a:ext uri="{FF2B5EF4-FFF2-40B4-BE49-F238E27FC236}">
                    <a16:creationId xmlns:a16="http://schemas.microsoft.com/office/drawing/2014/main" id="{44E7F0F1-52EA-14A1-D3A7-C996FC8C699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 flipH="1" flipV="1">
                <a:off x="36944229" y="12334959"/>
                <a:ext cx="1356306" cy="2431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32" name="Ink 1031">
                <a:extLst>
                  <a:ext uri="{FF2B5EF4-FFF2-40B4-BE49-F238E27FC236}">
                    <a16:creationId xmlns:a16="http://schemas.microsoft.com/office/drawing/2014/main" id="{DE976CE2-9781-68AF-D5D0-AFA47BDB82B7}"/>
                  </a:ext>
                </a:extLst>
              </p14:cNvPr>
              <p14:cNvContentPartPr/>
              <p14:nvPr/>
            </p14:nvContentPartPr>
            <p14:xfrm flipH="1" flipV="1">
              <a:off x="36990009" y="11543380"/>
              <a:ext cx="1320154" cy="5003951"/>
            </p14:xfrm>
          </p:contentPart>
        </mc:Choice>
        <mc:Fallback xmlns="">
          <p:pic>
            <p:nvPicPr>
              <p:cNvPr id="1032" name="Ink 1031">
                <a:extLst>
                  <a:ext uri="{FF2B5EF4-FFF2-40B4-BE49-F238E27FC236}">
                    <a16:creationId xmlns:a16="http://schemas.microsoft.com/office/drawing/2014/main" id="{DE976CE2-9781-68AF-D5D0-AFA47BDB82B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 flipH="1" flipV="1">
                <a:off x="36981006" y="11534380"/>
                <a:ext cx="1337799" cy="50215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33" name="Ink 1032">
                <a:extLst>
                  <a:ext uri="{FF2B5EF4-FFF2-40B4-BE49-F238E27FC236}">
                    <a16:creationId xmlns:a16="http://schemas.microsoft.com/office/drawing/2014/main" id="{870B7A20-1E16-2F1C-A50B-7E51998D5DF8}"/>
                  </a:ext>
                </a:extLst>
              </p14:cNvPr>
              <p14:cNvContentPartPr/>
              <p14:nvPr/>
            </p14:nvContentPartPr>
            <p14:xfrm flipH="1" flipV="1">
              <a:off x="36975644" y="10745202"/>
              <a:ext cx="1321919" cy="7399274"/>
            </p14:xfrm>
          </p:contentPart>
        </mc:Choice>
        <mc:Fallback xmlns="">
          <p:pic>
            <p:nvPicPr>
              <p:cNvPr id="1033" name="Ink 1032">
                <a:extLst>
                  <a:ext uri="{FF2B5EF4-FFF2-40B4-BE49-F238E27FC236}">
                    <a16:creationId xmlns:a16="http://schemas.microsoft.com/office/drawing/2014/main" id="{870B7A20-1E16-2F1C-A50B-7E51998D5DF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 flipH="1" flipV="1">
                <a:off x="36966644" y="10736202"/>
                <a:ext cx="1339559" cy="7416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34" name="Ink 1033">
                <a:extLst>
                  <a:ext uri="{FF2B5EF4-FFF2-40B4-BE49-F238E27FC236}">
                    <a16:creationId xmlns:a16="http://schemas.microsoft.com/office/drawing/2014/main" id="{4801B15E-C577-593B-3D5D-DCCC06C46CBC}"/>
                  </a:ext>
                </a:extLst>
              </p14:cNvPr>
              <p14:cNvContentPartPr/>
              <p14:nvPr/>
            </p14:nvContentPartPr>
            <p14:xfrm flipH="1" flipV="1">
              <a:off x="34038604" y="8222510"/>
              <a:ext cx="4272279" cy="9916566"/>
            </p14:xfrm>
          </p:contentPart>
        </mc:Choice>
        <mc:Fallback xmlns="">
          <p:pic>
            <p:nvPicPr>
              <p:cNvPr id="1034" name="Ink 1033">
                <a:extLst>
                  <a:ext uri="{FF2B5EF4-FFF2-40B4-BE49-F238E27FC236}">
                    <a16:creationId xmlns:a16="http://schemas.microsoft.com/office/drawing/2014/main" id="{4801B15E-C577-593B-3D5D-DCCC06C46CB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 flipH="1" flipV="1">
                <a:off x="34029604" y="8213510"/>
                <a:ext cx="4289918" cy="99342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36" name="Ink 1035">
                <a:extLst>
                  <a:ext uri="{FF2B5EF4-FFF2-40B4-BE49-F238E27FC236}">
                    <a16:creationId xmlns:a16="http://schemas.microsoft.com/office/drawing/2014/main" id="{222406A1-EB0A-A6FE-895B-B197D02C54C3}"/>
                  </a:ext>
                </a:extLst>
              </p14:cNvPr>
              <p14:cNvContentPartPr/>
              <p14:nvPr/>
            </p14:nvContentPartPr>
            <p14:xfrm flipH="1" flipV="1">
              <a:off x="37136924" y="9847013"/>
              <a:ext cx="1320479" cy="9978420"/>
            </p14:xfrm>
          </p:contentPart>
        </mc:Choice>
        <mc:Fallback xmlns="">
          <p:pic>
            <p:nvPicPr>
              <p:cNvPr id="1036" name="Ink 1035">
                <a:extLst>
                  <a:ext uri="{FF2B5EF4-FFF2-40B4-BE49-F238E27FC236}">
                    <a16:creationId xmlns:a16="http://schemas.microsoft.com/office/drawing/2014/main" id="{222406A1-EB0A-A6FE-895B-B197D02C54C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 flipH="1" flipV="1">
                <a:off x="37127924" y="9838013"/>
                <a:ext cx="1338119" cy="9996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37" name="Ink 1036">
                <a:extLst>
                  <a:ext uri="{FF2B5EF4-FFF2-40B4-BE49-F238E27FC236}">
                    <a16:creationId xmlns:a16="http://schemas.microsoft.com/office/drawing/2014/main" id="{05B10A56-FE7B-1588-6F68-506CA8E62CC0}"/>
                  </a:ext>
                </a:extLst>
              </p14:cNvPr>
              <p14:cNvContentPartPr/>
              <p14:nvPr/>
            </p14:nvContentPartPr>
            <p14:xfrm flipH="1" flipV="1">
              <a:off x="36927044" y="12922168"/>
              <a:ext cx="1347839" cy="2414727"/>
            </p14:xfrm>
          </p:contentPart>
        </mc:Choice>
        <mc:Fallback xmlns="">
          <p:pic>
            <p:nvPicPr>
              <p:cNvPr id="1037" name="Ink 1036">
                <a:extLst>
                  <a:ext uri="{FF2B5EF4-FFF2-40B4-BE49-F238E27FC236}">
                    <a16:creationId xmlns:a16="http://schemas.microsoft.com/office/drawing/2014/main" id="{05B10A56-FE7B-1588-6F68-506CA8E62CC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 flipH="1" flipV="1">
                <a:off x="36918044" y="12913169"/>
                <a:ext cx="1365479" cy="24323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38" name="Ink 1037">
                <a:extLst>
                  <a:ext uri="{FF2B5EF4-FFF2-40B4-BE49-F238E27FC236}">
                    <a16:creationId xmlns:a16="http://schemas.microsoft.com/office/drawing/2014/main" id="{0E587E33-EA08-4AF1-D783-0B138CA8AFC1}"/>
                  </a:ext>
                </a:extLst>
              </p14:cNvPr>
              <p14:cNvContentPartPr/>
              <p14:nvPr/>
            </p14:nvContentPartPr>
            <p14:xfrm flipH="1" flipV="1">
              <a:off x="36971289" y="12837602"/>
              <a:ext cx="1326994" cy="2542098"/>
            </p14:xfrm>
          </p:contentPart>
        </mc:Choice>
        <mc:Fallback xmlns="">
          <p:pic>
            <p:nvPicPr>
              <p:cNvPr id="1038" name="Ink 1037">
                <a:extLst>
                  <a:ext uri="{FF2B5EF4-FFF2-40B4-BE49-F238E27FC236}">
                    <a16:creationId xmlns:a16="http://schemas.microsoft.com/office/drawing/2014/main" id="{0E587E33-EA08-4AF1-D783-0B138CA8AFC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 flipH="1" flipV="1">
                <a:off x="3796439" y="12828603"/>
                <a:ext cx="66349700" cy="25597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39" name="Ink 1038">
                <a:extLst>
                  <a:ext uri="{FF2B5EF4-FFF2-40B4-BE49-F238E27FC236}">
                    <a16:creationId xmlns:a16="http://schemas.microsoft.com/office/drawing/2014/main" id="{10989B41-6F07-080D-BD63-A140054DE628}"/>
                  </a:ext>
                </a:extLst>
              </p14:cNvPr>
              <p14:cNvContentPartPr/>
              <p14:nvPr/>
            </p14:nvContentPartPr>
            <p14:xfrm flipH="1" flipV="1">
              <a:off x="37187324" y="10310693"/>
              <a:ext cx="1295279" cy="9972660"/>
            </p14:xfrm>
          </p:contentPart>
        </mc:Choice>
        <mc:Fallback xmlns="">
          <p:pic>
            <p:nvPicPr>
              <p:cNvPr id="1039" name="Ink 1038">
                <a:extLst>
                  <a:ext uri="{FF2B5EF4-FFF2-40B4-BE49-F238E27FC236}">
                    <a16:creationId xmlns:a16="http://schemas.microsoft.com/office/drawing/2014/main" id="{10989B41-6F07-080D-BD63-A140054DE62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 flipH="1" flipV="1">
                <a:off x="37178284" y="10301693"/>
                <a:ext cx="1312998" cy="9990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40" name="Ink 1039">
                <a:extLst>
                  <a:ext uri="{FF2B5EF4-FFF2-40B4-BE49-F238E27FC236}">
                    <a16:creationId xmlns:a16="http://schemas.microsoft.com/office/drawing/2014/main" id="{2E1D1966-8D95-35CB-DECD-E8698E57A22A}"/>
                  </a:ext>
                </a:extLst>
              </p14:cNvPr>
              <p14:cNvContentPartPr/>
              <p14:nvPr/>
            </p14:nvContentPartPr>
            <p14:xfrm flipH="1" flipV="1">
              <a:off x="37174724" y="11219682"/>
              <a:ext cx="1339199" cy="7395674"/>
            </p14:xfrm>
          </p:contentPart>
        </mc:Choice>
        <mc:Fallback xmlns="">
          <p:pic>
            <p:nvPicPr>
              <p:cNvPr id="1040" name="Ink 1039">
                <a:extLst>
                  <a:ext uri="{FF2B5EF4-FFF2-40B4-BE49-F238E27FC236}">
                    <a16:creationId xmlns:a16="http://schemas.microsoft.com/office/drawing/2014/main" id="{2E1D1966-8D95-35CB-DECD-E8698E57A22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 flipH="1" flipV="1">
                <a:off x="37165724" y="11210682"/>
                <a:ext cx="1356839" cy="74133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7" name="Ink 1046">
                <a:extLst>
                  <a:ext uri="{FF2B5EF4-FFF2-40B4-BE49-F238E27FC236}">
                    <a16:creationId xmlns:a16="http://schemas.microsoft.com/office/drawing/2014/main" id="{CEBB53B5-860F-644C-D1E2-8FC77866FBB8}"/>
                  </a:ext>
                </a:extLst>
              </p14:cNvPr>
              <p14:cNvContentPartPr/>
              <p14:nvPr/>
            </p14:nvContentPartPr>
            <p14:xfrm rot="8137200" flipH="1" flipV="1">
              <a:off x="37168846" y="14428126"/>
              <a:ext cx="1773926" cy="4476471"/>
            </p14:xfrm>
          </p:contentPart>
        </mc:Choice>
        <mc:Fallback xmlns="">
          <p:pic>
            <p:nvPicPr>
              <p:cNvPr id="1047" name="Ink 1046">
                <a:extLst>
                  <a:ext uri="{FF2B5EF4-FFF2-40B4-BE49-F238E27FC236}">
                    <a16:creationId xmlns:a16="http://schemas.microsoft.com/office/drawing/2014/main" id="{CEBB53B5-860F-644C-D1E2-8FC77866FBB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 rot="8137200" flipH="1" flipV="1">
                <a:off x="37159847" y="14419126"/>
                <a:ext cx="1791564" cy="4494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49" name="Ink 1048">
                <a:extLst>
                  <a:ext uri="{FF2B5EF4-FFF2-40B4-BE49-F238E27FC236}">
                    <a16:creationId xmlns:a16="http://schemas.microsoft.com/office/drawing/2014/main" id="{F72332FD-0634-F0BE-C5D6-22559A9E292E}"/>
                  </a:ext>
                </a:extLst>
              </p14:cNvPr>
              <p14:cNvContentPartPr/>
              <p14:nvPr/>
            </p14:nvContentPartPr>
            <p14:xfrm rot="6447600" flipH="1" flipV="1">
              <a:off x="35459555" y="16542217"/>
              <a:ext cx="3781628" cy="1174298"/>
            </p14:xfrm>
          </p:contentPart>
        </mc:Choice>
        <mc:Fallback xmlns="">
          <p:pic>
            <p:nvPicPr>
              <p:cNvPr id="1049" name="Ink 1048">
                <a:extLst>
                  <a:ext uri="{FF2B5EF4-FFF2-40B4-BE49-F238E27FC236}">
                    <a16:creationId xmlns:a16="http://schemas.microsoft.com/office/drawing/2014/main" id="{F72332FD-0634-F0BE-C5D6-22559A9E292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 rot="6447600" flipH="1" flipV="1">
                <a:off x="35450555" y="16533203"/>
                <a:ext cx="3799267" cy="1191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52" name="Ink 1051">
                <a:extLst>
                  <a:ext uri="{FF2B5EF4-FFF2-40B4-BE49-F238E27FC236}">
                    <a16:creationId xmlns:a16="http://schemas.microsoft.com/office/drawing/2014/main" id="{EA53E33E-104C-02E7-CA8F-44E63D41B017}"/>
                  </a:ext>
                </a:extLst>
              </p14:cNvPr>
              <p14:cNvContentPartPr/>
              <p14:nvPr/>
            </p14:nvContentPartPr>
            <p14:xfrm flipH="1" flipV="1">
              <a:off x="36937788" y="15630288"/>
              <a:ext cx="1352519" cy="2561538"/>
            </p14:xfrm>
          </p:contentPart>
        </mc:Choice>
        <mc:Fallback xmlns="">
          <p:pic>
            <p:nvPicPr>
              <p:cNvPr id="1052" name="Ink 1051">
                <a:extLst>
                  <a:ext uri="{FF2B5EF4-FFF2-40B4-BE49-F238E27FC236}">
                    <a16:creationId xmlns:a16="http://schemas.microsoft.com/office/drawing/2014/main" id="{EA53E33E-104C-02E7-CA8F-44E63D41B01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 flipH="1" flipV="1">
                <a:off x="36928788" y="15621289"/>
                <a:ext cx="1370159" cy="2579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56" name="Ink 1055">
                <a:extLst>
                  <a:ext uri="{FF2B5EF4-FFF2-40B4-BE49-F238E27FC236}">
                    <a16:creationId xmlns:a16="http://schemas.microsoft.com/office/drawing/2014/main" id="{8299404C-1C8A-3A5F-A792-189A2D7F4B0E}"/>
                  </a:ext>
                </a:extLst>
              </p14:cNvPr>
              <p14:cNvContentPartPr/>
              <p14:nvPr/>
            </p14:nvContentPartPr>
            <p14:xfrm flipH="1" flipV="1">
              <a:off x="37035812" y="15613728"/>
              <a:ext cx="1779456" cy="2550018"/>
            </p14:xfrm>
          </p:contentPart>
        </mc:Choice>
        <mc:Fallback xmlns="">
          <p:pic>
            <p:nvPicPr>
              <p:cNvPr id="1056" name="Ink 1055">
                <a:extLst>
                  <a:ext uri="{FF2B5EF4-FFF2-40B4-BE49-F238E27FC236}">
                    <a16:creationId xmlns:a16="http://schemas.microsoft.com/office/drawing/2014/main" id="{8299404C-1C8A-3A5F-A792-189A2D7F4B0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 flipH="1" flipV="1">
                <a:off x="37026818" y="15604728"/>
                <a:ext cx="1797085" cy="25676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61" name="Ink 1060">
                <a:extLst>
                  <a:ext uri="{FF2B5EF4-FFF2-40B4-BE49-F238E27FC236}">
                    <a16:creationId xmlns:a16="http://schemas.microsoft.com/office/drawing/2014/main" id="{14C07FEE-7F3E-F3A8-6176-11BCF2443694}"/>
                  </a:ext>
                </a:extLst>
              </p14:cNvPr>
              <p14:cNvContentPartPr/>
              <p14:nvPr/>
            </p14:nvContentPartPr>
            <p14:xfrm flipH="1" flipV="1">
              <a:off x="37186908" y="15621288"/>
              <a:ext cx="1297079" cy="2547498"/>
            </p14:xfrm>
          </p:contentPart>
        </mc:Choice>
        <mc:Fallback xmlns="">
          <p:pic>
            <p:nvPicPr>
              <p:cNvPr id="1061" name="Ink 1060">
                <a:extLst>
                  <a:ext uri="{FF2B5EF4-FFF2-40B4-BE49-F238E27FC236}">
                    <a16:creationId xmlns:a16="http://schemas.microsoft.com/office/drawing/2014/main" id="{14C07FEE-7F3E-F3A8-6176-11BCF244369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 flipH="1" flipV="1">
                <a:off x="37177908" y="15612289"/>
                <a:ext cx="1314719" cy="2565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62" name="Ink 1061">
                <a:extLst>
                  <a:ext uri="{FF2B5EF4-FFF2-40B4-BE49-F238E27FC236}">
                    <a16:creationId xmlns:a16="http://schemas.microsoft.com/office/drawing/2014/main" id="{BD6CC050-7B54-1D04-EA1D-040306A0A3BE}"/>
                  </a:ext>
                </a:extLst>
              </p14:cNvPr>
              <p14:cNvContentPartPr/>
              <p14:nvPr/>
            </p14:nvContentPartPr>
            <p14:xfrm flipH="1" flipV="1">
              <a:off x="37144788" y="12295226"/>
              <a:ext cx="1352519" cy="5026271"/>
            </p14:xfrm>
          </p:contentPart>
        </mc:Choice>
        <mc:Fallback xmlns="">
          <p:pic>
            <p:nvPicPr>
              <p:cNvPr id="1062" name="Ink 1061">
                <a:extLst>
                  <a:ext uri="{FF2B5EF4-FFF2-40B4-BE49-F238E27FC236}">
                    <a16:creationId xmlns:a16="http://schemas.microsoft.com/office/drawing/2014/main" id="{BD6CC050-7B54-1D04-EA1D-040306A0A3B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 flipH="1" flipV="1">
                <a:off x="37135788" y="12286226"/>
                <a:ext cx="1370159" cy="5043911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D6D5E6E0-1CC6-D555-7A4C-8A25219F844D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2134542" y="17666571"/>
            <a:ext cx="18926504" cy="11327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907539-17AE-F357-E05D-D61A0BE3279D}"/>
              </a:ext>
            </a:extLst>
          </p:cNvPr>
          <p:cNvSpPr txBox="1"/>
          <p:nvPr/>
        </p:nvSpPr>
        <p:spPr>
          <a:xfrm>
            <a:off x="13090278" y="16839039"/>
            <a:ext cx="17933307" cy="15542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100" b="1">
                <a:solidFill>
                  <a:srgbClr val="E8F0E8"/>
                </a:solidFill>
                <a:latin typeface="Aptos"/>
                <a:cs typeface="Segoe UI"/>
              </a:rPr>
              <a:t>Geographic Representation of the Appalachian Region in the United States</a:t>
            </a:r>
            <a:endParaRPr lang="en-US" sz="4100" b="1">
              <a:solidFill>
                <a:srgbClr val="E8F0E8"/>
              </a:solidFill>
              <a:latin typeface="Aptos"/>
            </a:endParaRPr>
          </a:p>
          <a:p>
            <a:endParaRPr lang="en-US" sz="5400" b="1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29928B-E233-91E9-2244-58BD3EC90CB4}"/>
              </a:ext>
            </a:extLst>
          </p:cNvPr>
          <p:cNvGrpSpPr/>
          <p:nvPr/>
        </p:nvGrpSpPr>
        <p:grpSpPr>
          <a:xfrm>
            <a:off x="32987861" y="14032256"/>
            <a:ext cx="10217051" cy="9497995"/>
            <a:chOff x="32987861" y="8014914"/>
            <a:chExt cx="10217051" cy="9497995"/>
          </a:xfrm>
        </p:grpSpPr>
        <p:sp>
          <p:nvSpPr>
            <p:cNvPr id="47" name="TextBox 14">
              <a:extLst>
                <a:ext uri="{FF2B5EF4-FFF2-40B4-BE49-F238E27FC236}">
                  <a16:creationId xmlns:a16="http://schemas.microsoft.com/office/drawing/2014/main" id="{BED35BA4-EEC4-6810-AA31-D296673EB8FA}"/>
                </a:ext>
              </a:extLst>
            </p:cNvPr>
            <p:cNvSpPr txBox="1"/>
            <p:nvPr/>
          </p:nvSpPr>
          <p:spPr>
            <a:xfrm>
              <a:off x="40241792" y="16740620"/>
              <a:ext cx="2963120" cy="70788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>
                  <a:solidFill>
                    <a:srgbClr val="003262"/>
                  </a:solidFill>
                  <a:ea typeface="Calibri"/>
                  <a:cs typeface="Calibri"/>
                </a:rPr>
                <a:t>Higher Odds (OR &gt; 1)</a:t>
              </a:r>
            </a:p>
            <a:p>
              <a:r>
                <a:rPr lang="en-US" sz="2000">
                  <a:solidFill>
                    <a:srgbClr val="B65F28"/>
                  </a:solidFill>
                  <a:ea typeface="Calibri"/>
                  <a:cs typeface="Calibri"/>
                </a:rPr>
                <a:t>Lower Odds (OR &lt; 1)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60EC62B-1401-F64B-7DCA-4F2DE05FDC34}"/>
                </a:ext>
              </a:extLst>
            </p:cNvPr>
            <p:cNvGrpSpPr/>
            <p:nvPr/>
          </p:nvGrpSpPr>
          <p:grpSpPr>
            <a:xfrm>
              <a:off x="32987861" y="8014914"/>
              <a:ext cx="9805994" cy="9497995"/>
              <a:chOff x="32987861" y="8014914"/>
              <a:chExt cx="9805994" cy="949799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E4CC0BCA-0F01-AA15-D771-248D90D75C7D}"/>
                  </a:ext>
                </a:extLst>
              </p:cNvPr>
              <p:cNvGrpSpPr/>
              <p:nvPr/>
            </p:nvGrpSpPr>
            <p:grpSpPr>
              <a:xfrm>
                <a:off x="33049684" y="9416166"/>
                <a:ext cx="4856066" cy="2462473"/>
                <a:chOff x="256249" y="413189"/>
                <a:chExt cx="4333148" cy="1886217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A3B904C9-61F0-2CD6-92DE-E44C09E1D9D4}"/>
                    </a:ext>
                  </a:extLst>
                </p:cNvPr>
                <p:cNvGrpSpPr/>
                <p:nvPr/>
              </p:nvGrpSpPr>
              <p:grpSpPr>
                <a:xfrm>
                  <a:off x="256249" y="413189"/>
                  <a:ext cx="3749040" cy="1886217"/>
                  <a:chOff x="256249" y="413189"/>
                  <a:chExt cx="3749040" cy="1886217"/>
                </a:xfrm>
              </p:grpSpPr>
              <p:sp>
                <p:nvSpPr>
                  <p:cNvPr id="38" name="Shape 1">
                    <a:extLst>
                      <a:ext uri="{FF2B5EF4-FFF2-40B4-BE49-F238E27FC236}">
                        <a16:creationId xmlns:a16="http://schemas.microsoft.com/office/drawing/2014/main" id="{B48AC89E-F246-251E-6CFD-A4AFA84C533C}"/>
                      </a:ext>
                    </a:extLst>
                  </p:cNvPr>
                  <p:cNvSpPr/>
                  <p:nvPr/>
                </p:nvSpPr>
                <p:spPr>
                  <a:xfrm>
                    <a:off x="256249" y="413189"/>
                    <a:ext cx="3749040" cy="1886217"/>
                  </a:xfrm>
                  <a:prstGeom prst="roundRect">
                    <a:avLst/>
                  </a:prstGeom>
                  <a:solidFill>
                    <a:srgbClr val="E8F0E8"/>
                  </a:solidFill>
                  <a:ln w="12700">
                    <a:solidFill>
                      <a:srgbClr val="2F5D3A"/>
                    </a:solidFill>
                    <a:prstDash val="solid"/>
                  </a:ln>
                </p:spPr>
                <p:txBody>
                  <a:bodyPr/>
                  <a:lstStyle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39" name="Text 2">
                    <a:extLst>
                      <a:ext uri="{FF2B5EF4-FFF2-40B4-BE49-F238E27FC236}">
                        <a16:creationId xmlns:a16="http://schemas.microsoft.com/office/drawing/2014/main" id="{BD64FAED-B170-8BC5-5591-F853BB84B316}"/>
                      </a:ext>
                    </a:extLst>
                  </p:cNvPr>
                  <p:cNvSpPr/>
                  <p:nvPr/>
                </p:nvSpPr>
                <p:spPr>
                  <a:xfrm>
                    <a:off x="422737" y="504630"/>
                    <a:ext cx="3504913" cy="1554480"/>
                  </a:xfrm>
                  <a:prstGeom prst="rect">
                    <a:avLst/>
                  </a:prstGeom>
                  <a:solidFill>
                    <a:srgbClr val="E8F0E8"/>
                  </a:solidFill>
                  <a:ln/>
                </p:spPr>
                <p:txBody>
                  <a:bodyPr wrap="square" lIns="91440" tIns="45720" rIns="91440" bIns="45720" rtlCol="0" anchor="ctr"/>
                  <a:lstStyle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 algn="ctr">
                      <a:lnSpc>
                        <a:spcPct val="150000"/>
                      </a:lnSpc>
                      <a:buNone/>
                    </a:pPr>
                    <a:r>
                      <a:rPr lang="en-US" sz="2800" b="1" u="sng">
                        <a:solidFill>
                          <a:srgbClr val="2F5D3A"/>
                        </a:solidFill>
                      </a:rPr>
                      <a:t>CONTEXTUAL</a:t>
                    </a:r>
                    <a:r>
                      <a:rPr lang="en-US" sz="2800" b="1">
                        <a:solidFill>
                          <a:srgbClr val="2F5D3A"/>
                        </a:solidFill>
                      </a:rPr>
                      <a:t> </a:t>
                    </a:r>
                    <a:endParaRPr lang="en-US" sz="2800" b="1">
                      <a:solidFill>
                        <a:srgbClr val="2F5D3A"/>
                      </a:solidFill>
                      <a:ea typeface="Calibri"/>
                      <a:cs typeface="Calibri"/>
                    </a:endParaRPr>
                  </a:p>
                  <a:p>
                    <a:pPr>
                      <a:lnSpc>
                        <a:spcPct val="150000"/>
                      </a:lnSpc>
                    </a:pPr>
                    <a:r>
                      <a:rPr lang="en-US" sz="2400" u="sng">
                        <a:solidFill>
                          <a:srgbClr val="2F5D3A"/>
                        </a:solidFill>
                      </a:rPr>
                      <a:t>Nonmetro</a:t>
                    </a:r>
                    <a:r>
                      <a:rPr lang="en-US" sz="1400">
                        <a:solidFill>
                          <a:srgbClr val="2F5D3A"/>
                        </a:solidFill>
                      </a:rPr>
                      <a:t>                             (2.21; 1.53, 3.12)</a:t>
                    </a:r>
                    <a:endParaRPr lang="en-US" sz="1400">
                      <a:solidFill>
                        <a:srgbClr val="2F5D3A"/>
                      </a:solidFill>
                      <a:ea typeface="Calibri"/>
                      <a:cs typeface="Calibri"/>
                    </a:endParaRPr>
                  </a:p>
                  <a:p>
                    <a:pPr>
                      <a:lnSpc>
                        <a:spcPct val="150000"/>
                      </a:lnSpc>
                    </a:pPr>
                    <a:r>
                      <a:rPr lang="en-US" sz="2400" u="sng">
                        <a:solidFill>
                          <a:srgbClr val="2F5D3A"/>
                        </a:solidFill>
                      </a:rPr>
                      <a:t>Low Mod. SVI</a:t>
                    </a:r>
                    <a:r>
                      <a:rPr lang="en-US" sz="2800">
                        <a:solidFill>
                          <a:srgbClr val="2F5D3A"/>
                        </a:solidFill>
                      </a:rPr>
                      <a:t> </a:t>
                    </a:r>
                    <a:r>
                      <a:rPr lang="en-US" sz="1400">
                        <a:solidFill>
                          <a:srgbClr val="2F5D3A"/>
                        </a:solidFill>
                      </a:rPr>
                      <a:t>                (</a:t>
                    </a:r>
                    <a:r>
                      <a:rPr lang="en-US" sz="1400">
                        <a:solidFill>
                          <a:srgbClr val="2F5D3A"/>
                        </a:solidFill>
                        <a:latin typeface="Times New Roman"/>
                        <a:cs typeface="Times New Roman"/>
                      </a:rPr>
                      <a:t>2.36; 1.15, 4.84</a:t>
                    </a:r>
                    <a:r>
                      <a:rPr lang="en-US" sz="1400">
                        <a:solidFill>
                          <a:srgbClr val="2F5D3A"/>
                        </a:solidFill>
                      </a:rPr>
                      <a:t>)</a:t>
                    </a:r>
                    <a:endParaRPr lang="en-US" sz="1400">
                      <a:solidFill>
                        <a:srgbClr val="2F5D3A"/>
                      </a:solidFill>
                      <a:ea typeface="Calibri"/>
                      <a:cs typeface="Calibri"/>
                    </a:endParaRPr>
                  </a:p>
                  <a:p>
                    <a:pPr>
                      <a:lnSpc>
                        <a:spcPct val="150000"/>
                      </a:lnSpc>
                    </a:pPr>
                    <a:r>
                      <a:rPr lang="en-US" sz="2400" u="sng">
                        <a:solidFill>
                          <a:srgbClr val="2F5D3A"/>
                        </a:solidFill>
                      </a:rPr>
                      <a:t>Mod. High SVI </a:t>
                    </a:r>
                    <a:r>
                      <a:rPr lang="en-US" sz="2400">
                        <a:solidFill>
                          <a:srgbClr val="2F5D3A"/>
                        </a:solidFill>
                      </a:rPr>
                      <a:t>  </a:t>
                    </a:r>
                    <a:r>
                      <a:rPr lang="en-US" sz="1400">
                        <a:solidFill>
                          <a:srgbClr val="2F5D3A"/>
                        </a:solidFill>
                      </a:rPr>
                      <a:t>           (</a:t>
                    </a:r>
                    <a:r>
                      <a:rPr lang="en-US" sz="1400">
                        <a:solidFill>
                          <a:srgbClr val="2F5D3A"/>
                        </a:solidFill>
                        <a:latin typeface="Times New Roman"/>
                        <a:cs typeface="Times New Roman"/>
                      </a:rPr>
                      <a:t>2.71; 1.41, 5.12</a:t>
                    </a:r>
                    <a:r>
                      <a:rPr lang="en-US" sz="1400">
                        <a:solidFill>
                          <a:srgbClr val="2F5D3A"/>
                        </a:solidFill>
                      </a:rPr>
                      <a:t>) </a:t>
                    </a:r>
                    <a:endParaRPr lang="en-US" sz="1400">
                      <a:solidFill>
                        <a:srgbClr val="2F5D3A"/>
                      </a:solidFill>
                      <a:ea typeface="Calibri"/>
                      <a:cs typeface="Calibri"/>
                    </a:endParaRPr>
                  </a:p>
                </p:txBody>
              </p:sp>
            </p:grpSp>
            <p:sp>
              <p:nvSpPr>
                <p:cNvPr id="37" name="TextBox 13">
                  <a:extLst>
                    <a:ext uri="{FF2B5EF4-FFF2-40B4-BE49-F238E27FC236}">
                      <a16:creationId xmlns:a16="http://schemas.microsoft.com/office/drawing/2014/main" id="{20502CFF-D4B0-9EAB-1525-72F1567520C5}"/>
                    </a:ext>
                  </a:extLst>
                </p:cNvPr>
                <p:cNvSpPr txBox="1"/>
                <p:nvPr/>
              </p:nvSpPr>
              <p:spPr>
                <a:xfrm>
                  <a:off x="3002137" y="463945"/>
                  <a:ext cx="1587260" cy="23575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t">
                  <a:sp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400">
                      <a:solidFill>
                        <a:srgbClr val="2F5D3A"/>
                      </a:solidFill>
                    </a:rPr>
                    <a:t>(OR; 95% CI)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F071D5F-41CF-43FA-1BD4-E2912ABC087A}"/>
                  </a:ext>
                </a:extLst>
              </p:cNvPr>
              <p:cNvGrpSpPr/>
              <p:nvPr/>
            </p:nvGrpSpPr>
            <p:grpSpPr>
              <a:xfrm>
                <a:off x="32987861" y="8014914"/>
                <a:ext cx="9805994" cy="9497995"/>
                <a:chOff x="32987861" y="8014914"/>
                <a:chExt cx="9805994" cy="9497995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5C858886-5779-1FB9-D7B1-820A2FD34E5E}"/>
                    </a:ext>
                  </a:extLst>
                </p:cNvPr>
                <p:cNvGrpSpPr/>
                <p:nvPr/>
              </p:nvGrpSpPr>
              <p:grpSpPr>
                <a:xfrm>
                  <a:off x="33056581" y="15110194"/>
                  <a:ext cx="4606178" cy="2402715"/>
                  <a:chOff x="256249" y="4270167"/>
                  <a:chExt cx="4040761" cy="1601063"/>
                </a:xfrm>
              </p:grpSpPr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B124D89F-BBA5-0587-7525-6CAA8675C99D}"/>
                      </a:ext>
                    </a:extLst>
                  </p:cNvPr>
                  <p:cNvGrpSpPr/>
                  <p:nvPr/>
                </p:nvGrpSpPr>
                <p:grpSpPr>
                  <a:xfrm>
                    <a:off x="256249" y="4270167"/>
                    <a:ext cx="3749039" cy="1601063"/>
                    <a:chOff x="256249" y="4270167"/>
                    <a:chExt cx="3749039" cy="1601063"/>
                  </a:xfrm>
                </p:grpSpPr>
                <p:sp>
                  <p:nvSpPr>
                    <p:cNvPr id="45" name="Shape 5">
                      <a:extLst>
                        <a:ext uri="{FF2B5EF4-FFF2-40B4-BE49-F238E27FC236}">
                          <a16:creationId xmlns:a16="http://schemas.microsoft.com/office/drawing/2014/main" id="{8A58D69E-80A0-6414-A196-0939EB5C4E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6249" y="4270167"/>
                      <a:ext cx="3749039" cy="1601063"/>
                    </a:xfrm>
                    <a:prstGeom prst="roundRect">
                      <a:avLst/>
                    </a:prstGeom>
                    <a:solidFill>
                      <a:srgbClr val="E8F0E8"/>
                    </a:solidFill>
                    <a:ln w="12700">
                      <a:solidFill>
                        <a:srgbClr val="2F5D3A"/>
                      </a:solidFill>
                      <a:prstDash val="solid"/>
                    </a:ln>
                  </p:spPr>
                  <p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en-US"/>
                    </a:p>
                  </p:txBody>
                </p:sp>
                <p:sp>
                  <p:nvSpPr>
                    <p:cNvPr id="46" name="Text 6">
                      <a:extLst>
                        <a:ext uri="{FF2B5EF4-FFF2-40B4-BE49-F238E27FC236}">
                          <a16:creationId xmlns:a16="http://schemas.microsoft.com/office/drawing/2014/main" id="{DDA76C57-077C-0F35-C1D8-5CEA1A2C97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2739" y="4270167"/>
                      <a:ext cx="3504912" cy="129593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91440" tIns="45720" rIns="91440" bIns="45720" rtlCol="0" anchor="ctr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b="1" u="sng">
                          <a:solidFill>
                            <a:srgbClr val="2F5D3A"/>
                          </a:solidFill>
                        </a:rPr>
                        <a:t>METHOD</a:t>
                      </a:r>
                      <a:endParaRPr lang="en-US" sz="2800" b="1" u="sng">
                        <a:solidFill>
                          <a:srgbClr val="2F5D3A"/>
                        </a:solidFill>
                        <a:ea typeface="Calibri"/>
                        <a:cs typeface="Calibri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u="sng">
                          <a:solidFill>
                            <a:srgbClr val="2F5D3A"/>
                          </a:solidFill>
                        </a:rPr>
                        <a:t>Firearm </a:t>
                      </a:r>
                      <a:r>
                        <a:rPr lang="en-US" sz="1400">
                          <a:solidFill>
                            <a:srgbClr val="2F5D3A"/>
                          </a:solidFill>
                        </a:rPr>
                        <a:t>  </a:t>
                      </a:r>
                      <a:r>
                        <a:rPr lang="en-US" sz="1400">
                          <a:solidFill>
                            <a:srgbClr val="2F5D3A"/>
                          </a:solidFill>
                          <a:latin typeface="Aptos"/>
                          <a:cs typeface="Times New Roman"/>
                        </a:rPr>
                        <a:t>                                     (</a:t>
                      </a:r>
                      <a:r>
                        <a:rPr lang="en-US" sz="1400">
                          <a:solidFill>
                            <a:srgbClr val="2F5D3A"/>
                          </a:solidFill>
                          <a:latin typeface="Times New Roman"/>
                          <a:cs typeface="Times New Roman"/>
                        </a:rPr>
                        <a:t>2.01; 1.40, 2.87</a:t>
                      </a:r>
                      <a:r>
                        <a:rPr lang="en-US" sz="1400">
                          <a:solidFill>
                            <a:srgbClr val="2F5D3A"/>
                          </a:solidFill>
                        </a:rPr>
                        <a:t>)</a:t>
                      </a:r>
                      <a:endParaRPr lang="en-US" sz="1400">
                        <a:solidFill>
                          <a:srgbClr val="2F5D3A"/>
                        </a:solidFill>
                        <a:ea typeface="Calibri"/>
                        <a:cs typeface="Calibri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u="sng">
                          <a:solidFill>
                            <a:srgbClr val="2F5D3A"/>
                          </a:solidFill>
                        </a:rPr>
                        <a:t>Hanging/Suffocation</a:t>
                      </a:r>
                      <a:r>
                        <a:rPr lang="en-US" sz="1600">
                          <a:solidFill>
                            <a:srgbClr val="2F5D3A"/>
                          </a:solidFill>
                        </a:rPr>
                        <a:t> </a:t>
                      </a:r>
                      <a:r>
                        <a:rPr lang="en-US" sz="1400">
                          <a:solidFill>
                            <a:srgbClr val="2F5D3A"/>
                          </a:solidFill>
                        </a:rPr>
                        <a:t> </a:t>
                      </a:r>
                      <a:endParaRPr lang="en-US" sz="1400">
                        <a:solidFill>
                          <a:srgbClr val="2F5D3A"/>
                        </a:solidFill>
                        <a:latin typeface="Aptos"/>
                        <a:ea typeface="Calibri"/>
                        <a:cs typeface="Calibri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>
                          <a:solidFill>
                            <a:srgbClr val="2F5D3A"/>
                          </a:solidFill>
                          <a:latin typeface="Aptos"/>
                          <a:cs typeface="Times New Roman"/>
                        </a:rPr>
                        <a:t>                                                         (</a:t>
                      </a:r>
                      <a:r>
                        <a:rPr lang="en-US" sz="1400">
                          <a:solidFill>
                            <a:srgbClr val="2F5D3A"/>
                          </a:solidFill>
                          <a:latin typeface="Times New Roman"/>
                          <a:cs typeface="Times New Roman"/>
                        </a:rPr>
                        <a:t>1.67; 1.23, 2.29</a:t>
                      </a:r>
                      <a:r>
                        <a:rPr lang="en-US" sz="1400">
                          <a:solidFill>
                            <a:srgbClr val="2F5D3A"/>
                          </a:solidFill>
                        </a:rPr>
                        <a:t>)</a:t>
                      </a:r>
                      <a:endParaRPr lang="en-US" sz="1400">
                        <a:solidFill>
                          <a:srgbClr val="2F5D3A"/>
                        </a:solidFill>
                        <a:ea typeface="Calibri"/>
                        <a:cs typeface="Calibri"/>
                      </a:endParaRPr>
                    </a:p>
                  </p:txBody>
                </p:sp>
              </p:grpSp>
              <p:sp>
                <p:nvSpPr>
                  <p:cNvPr id="44" name="TextBox 18">
                    <a:extLst>
                      <a:ext uri="{FF2B5EF4-FFF2-40B4-BE49-F238E27FC236}">
                        <a16:creationId xmlns:a16="http://schemas.microsoft.com/office/drawing/2014/main" id="{A063E084-6C1E-DB48-595A-DE26BFFB94E8}"/>
                      </a:ext>
                    </a:extLst>
                  </p:cNvPr>
                  <p:cNvSpPr txBox="1"/>
                  <p:nvPr/>
                </p:nvSpPr>
                <p:spPr>
                  <a:xfrm>
                    <a:off x="2981785" y="4316235"/>
                    <a:ext cx="1315225" cy="205089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t">
                    <a:spAutoFit/>
                  </a:bodyPr>
                  <a:lstStyle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400">
                        <a:solidFill>
                          <a:srgbClr val="2F5D3A"/>
                        </a:solidFill>
                      </a:rPr>
                      <a:t>(OR; 95% CI)</a:t>
                    </a:r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8FC6EB2B-939A-9B11-4C7B-BD5AAA2317B3}"/>
                    </a:ext>
                  </a:extLst>
                </p:cNvPr>
                <p:cNvGrpSpPr/>
                <p:nvPr/>
              </p:nvGrpSpPr>
              <p:grpSpPr>
                <a:xfrm>
                  <a:off x="32987861" y="8014914"/>
                  <a:ext cx="9805994" cy="6708740"/>
                  <a:chOff x="32987861" y="8014914"/>
                  <a:chExt cx="9805994" cy="6708740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54295972-A857-2743-4728-301D175C3C94}"/>
                      </a:ext>
                    </a:extLst>
                  </p:cNvPr>
                  <p:cNvGrpSpPr/>
                  <p:nvPr/>
                </p:nvGrpSpPr>
                <p:grpSpPr>
                  <a:xfrm>
                    <a:off x="33048254" y="12229317"/>
                    <a:ext cx="4798618" cy="2354113"/>
                    <a:chOff x="256249" y="2326354"/>
                    <a:chExt cx="4256244" cy="1802402"/>
                  </a:xfrm>
                </p:grpSpPr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id="{CCDAE735-DB55-BE6D-E470-331D48A230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6249" y="2326354"/>
                      <a:ext cx="3749040" cy="1802402"/>
                      <a:chOff x="256249" y="2326354"/>
                      <a:chExt cx="3749040" cy="1802402"/>
                    </a:xfrm>
                  </p:grpSpPr>
                  <p:sp>
                    <p:nvSpPr>
                      <p:cNvPr id="32" name="Shape 3">
                        <a:extLst>
                          <a:ext uri="{FF2B5EF4-FFF2-40B4-BE49-F238E27FC236}">
                            <a16:creationId xmlns:a16="http://schemas.microsoft.com/office/drawing/2014/main" id="{0ACA8229-3AB3-0D2D-2B28-070099570A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6249" y="2326354"/>
                        <a:ext cx="3749040" cy="1802402"/>
                      </a:xfrm>
                      <a:prstGeom prst="roundRect">
                        <a:avLst/>
                      </a:prstGeom>
                      <a:solidFill>
                        <a:srgbClr val="E8F0E8"/>
                      </a:solidFill>
                      <a:ln w="12700">
                        <a:solidFill>
                          <a:srgbClr val="2F5D3A"/>
                        </a:solidFill>
                        <a:prstDash val="solid"/>
                      </a:ln>
                    </p:spPr>
                    <p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en-US"/>
                      </a:p>
                    </p:txBody>
                  </p:sp>
                  <p:sp>
                    <p:nvSpPr>
                      <p:cNvPr id="33" name="Text 4">
                        <a:extLst>
                          <a:ext uri="{FF2B5EF4-FFF2-40B4-BE49-F238E27FC236}">
                            <a16:creationId xmlns:a16="http://schemas.microsoft.com/office/drawing/2014/main" id="{FB4A1E86-B936-0658-71BC-49C0FC037F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3409" y="2399506"/>
                        <a:ext cx="3534241" cy="155448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91440" tIns="45720" rIns="91440" bIns="45720" rtlCol="0" anchor="ctr"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>
                          <a:lnSpc>
                            <a:spcPct val="150000"/>
                          </a:lnSpc>
                        </a:pPr>
                        <a:r>
                          <a:rPr lang="en-US" sz="2800" b="1" u="sng">
                            <a:solidFill>
                              <a:srgbClr val="2F5D3A"/>
                            </a:solidFill>
                          </a:rPr>
                          <a:t>CLINICAL</a:t>
                        </a:r>
                        <a:endParaRPr lang="en-US" sz="2800" b="1" u="sng">
                          <a:solidFill>
                            <a:srgbClr val="2F5D3A"/>
                          </a:solidFill>
                          <a:ea typeface="Calibri"/>
                          <a:cs typeface="Calibri"/>
                        </a:endParaRPr>
                      </a:p>
                      <a:p>
                        <a:pPr>
                          <a:lnSpc>
                            <a:spcPct val="150000"/>
                          </a:lnSpc>
                        </a:pPr>
                        <a:r>
                          <a:rPr lang="en-US" sz="2400" u="sng">
                            <a:solidFill>
                              <a:srgbClr val="2F5D3A"/>
                            </a:solidFill>
                          </a:rPr>
                          <a:t>Anxiety</a:t>
                        </a:r>
                        <a:r>
                          <a:rPr lang="en-US" sz="2400">
                            <a:solidFill>
                              <a:srgbClr val="2F5D3A"/>
                            </a:solidFill>
                          </a:rPr>
                          <a:t> </a:t>
                        </a:r>
                        <a:r>
                          <a:rPr lang="en-US" sz="1600">
                            <a:solidFill>
                              <a:srgbClr val="2F5D3A"/>
                            </a:solidFill>
                          </a:rPr>
                          <a:t>   </a:t>
                        </a:r>
                        <a:r>
                          <a:rPr lang="en-US" sz="1400">
                            <a:solidFill>
                              <a:srgbClr val="2F5D3A"/>
                            </a:solidFill>
                          </a:rPr>
                          <a:t>                                      (0.70; 0.55,0.89)</a:t>
                        </a:r>
                        <a:endParaRPr lang="en-US" sz="1400">
                          <a:solidFill>
                            <a:srgbClr val="2F5D3A"/>
                          </a:solidFill>
                          <a:ea typeface="Calibri"/>
                          <a:cs typeface="Calibri"/>
                        </a:endParaRPr>
                      </a:p>
                      <a:p>
                        <a:pPr>
                          <a:lnSpc>
                            <a:spcPct val="150000"/>
                          </a:lnSpc>
                        </a:pPr>
                        <a:r>
                          <a:rPr lang="en-US" sz="2400" u="sng">
                            <a:solidFill>
                              <a:srgbClr val="2F5D3A"/>
                            </a:solidFill>
                          </a:rPr>
                          <a:t>Depressed Mood</a:t>
                        </a:r>
                        <a:r>
                          <a:rPr lang="en-US" sz="1400">
                            <a:solidFill>
                              <a:srgbClr val="2F5D3A"/>
                            </a:solidFill>
                          </a:rPr>
                          <a:t>        (</a:t>
                        </a:r>
                        <a:r>
                          <a:rPr lang="en-US" sz="1400">
                            <a:solidFill>
                              <a:srgbClr val="2F5D3A"/>
                            </a:solidFill>
                            <a:latin typeface="Times New Roman"/>
                            <a:cs typeface="Times New Roman"/>
                          </a:rPr>
                          <a:t>0.73; 0.62, 0.85</a:t>
                        </a:r>
                        <a:r>
                          <a:rPr lang="en-US" sz="1400">
                            <a:solidFill>
                              <a:srgbClr val="2F5D3A"/>
                            </a:solidFill>
                          </a:rPr>
                          <a:t>)</a:t>
                        </a:r>
                        <a:endParaRPr lang="en-US" sz="1400">
                          <a:solidFill>
                            <a:srgbClr val="2F5D3A"/>
                          </a:solidFill>
                          <a:ea typeface="Calibri"/>
                          <a:cs typeface="Calibri"/>
                        </a:endParaRPr>
                      </a:p>
                      <a:p>
                        <a:pPr>
                          <a:lnSpc>
                            <a:spcPct val="150000"/>
                          </a:lnSpc>
                        </a:pPr>
                        <a:r>
                          <a:rPr lang="en-US" sz="2400" u="sng">
                            <a:solidFill>
                              <a:srgbClr val="2F5D3A"/>
                            </a:solidFill>
                          </a:rPr>
                          <a:t>Suicidal Thoughts</a:t>
                        </a:r>
                        <a:r>
                          <a:rPr lang="en-US" sz="1400">
                            <a:solidFill>
                              <a:srgbClr val="2F5D3A"/>
                            </a:solidFill>
                          </a:rPr>
                          <a:t>     (</a:t>
                        </a:r>
                        <a:r>
                          <a:rPr lang="en-US" sz="1400">
                            <a:solidFill>
                              <a:srgbClr val="2F5D3A"/>
                            </a:solidFill>
                            <a:latin typeface="Times New Roman"/>
                            <a:cs typeface="Times New Roman"/>
                          </a:rPr>
                          <a:t>0.69; 0.59, 0.80</a:t>
                        </a:r>
                        <a:r>
                          <a:rPr lang="en-US" sz="1400">
                            <a:solidFill>
                              <a:srgbClr val="2F5D3A"/>
                            </a:solidFill>
                          </a:rPr>
                          <a:t>)</a:t>
                        </a:r>
                        <a:endParaRPr lang="en-US" sz="1400">
                          <a:solidFill>
                            <a:srgbClr val="2F5D3A"/>
                          </a:solidFill>
                          <a:ea typeface="Calibri"/>
                          <a:cs typeface="Calibri"/>
                        </a:endParaRPr>
                      </a:p>
                    </p:txBody>
                  </p:sp>
                </p:grpSp>
                <p:sp>
                  <p:nvSpPr>
                    <p:cNvPr id="31" name="TextBox 16">
                      <a:extLst>
                        <a:ext uri="{FF2B5EF4-FFF2-40B4-BE49-F238E27FC236}">
                          <a16:creationId xmlns:a16="http://schemas.microsoft.com/office/drawing/2014/main" id="{00108A40-58B4-8F03-9AD2-8ED96A0A4F9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25233" y="2380699"/>
                      <a:ext cx="1587260" cy="23564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 rtlCol="0" anchor="t">
                      <a:spAutoFit/>
                    </a:bodyPr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sz="1400">
                          <a:solidFill>
                            <a:srgbClr val="2F5D3A"/>
                          </a:solidFill>
                        </a:rPr>
                        <a:t>(OR; 95% CI)</a:t>
                      </a:r>
                    </a:p>
                  </p:txBody>
                </p:sp>
              </p:grpSp>
              <p:grpSp>
                <p:nvGrpSpPr>
                  <p:cNvPr id="7" name="Group 6">
                    <a:extLst>
                      <a:ext uri="{FF2B5EF4-FFF2-40B4-BE49-F238E27FC236}">
                        <a16:creationId xmlns:a16="http://schemas.microsoft.com/office/drawing/2014/main" id="{C0648883-6D7B-007D-981A-FC144ECB5159}"/>
                      </a:ext>
                    </a:extLst>
                  </p:cNvPr>
                  <p:cNvGrpSpPr/>
                  <p:nvPr/>
                </p:nvGrpSpPr>
                <p:grpSpPr>
                  <a:xfrm>
                    <a:off x="32987861" y="8014914"/>
                    <a:ext cx="9805994" cy="6708740"/>
                    <a:chOff x="32987861" y="8014914"/>
                    <a:chExt cx="9805994" cy="6708740"/>
                  </a:xfrm>
                </p:grpSpPr>
                <p:grpSp>
                  <p:nvGrpSpPr>
                    <p:cNvPr id="57" name="Group 56">
                      <a:extLst>
                        <a:ext uri="{FF2B5EF4-FFF2-40B4-BE49-F238E27FC236}">
                          <a16:creationId xmlns:a16="http://schemas.microsoft.com/office/drawing/2014/main" id="{E746107E-7516-D50B-1BAC-D2023EE06A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9151160" y="12284914"/>
                      <a:ext cx="3642695" cy="2438740"/>
                      <a:chOff x="8913399" y="2722045"/>
                      <a:chExt cx="3069602" cy="2127141"/>
                    </a:xfrm>
                  </p:grpSpPr>
                  <p:sp>
                    <p:nvSpPr>
                      <p:cNvPr id="59" name="Shape 7">
                        <a:extLst>
                          <a:ext uri="{FF2B5EF4-FFF2-40B4-BE49-F238E27FC236}">
                            <a16:creationId xmlns:a16="http://schemas.microsoft.com/office/drawing/2014/main" id="{063CBC58-3E8A-99B1-2BD3-051F9A4C5A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3399" y="2722045"/>
                        <a:ext cx="3069602" cy="2127141"/>
                      </a:xfrm>
                      <a:prstGeom prst="roundRect">
                        <a:avLst/>
                      </a:prstGeom>
                      <a:solidFill>
                        <a:srgbClr val="2F5D3A"/>
                      </a:solidFill>
                      <a:ln w="12700">
                        <a:solidFill>
                          <a:srgbClr val="E8F0E8"/>
                        </a:solidFill>
                        <a:prstDash val="solid"/>
                      </a:ln>
                    </p:spPr>
                    <p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endParaRPr lang="en-US"/>
                      </a:p>
                    </p:txBody>
                  </p:sp>
                  <p:sp>
                    <p:nvSpPr>
                      <p:cNvPr id="60" name="Text 8">
                        <a:extLst>
                          <a:ext uri="{FF2B5EF4-FFF2-40B4-BE49-F238E27FC236}">
                            <a16:creationId xmlns:a16="http://schemas.microsoft.com/office/drawing/2014/main" id="{76CF148B-A686-D9B9-8E33-301B752175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22320" y="3106311"/>
                        <a:ext cx="2651760" cy="137160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91440" tIns="45720" rIns="91440" bIns="45720" rtlCol="0" anchor="ctr"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indent="0" algn="ctr">
                          <a:buNone/>
                        </a:pPr>
                        <a:r>
                          <a:rPr lang="en-US" sz="3200" b="1">
                            <a:solidFill>
                              <a:srgbClr val="E8F0E8"/>
                            </a:solidFill>
                          </a:rPr>
                          <a:t>APPALACHIAN</a:t>
                        </a:r>
                      </a:p>
                      <a:p>
                        <a:pPr marL="0" indent="0" algn="ctr">
                          <a:buNone/>
                        </a:pPr>
                        <a:r>
                          <a:rPr lang="en-US" sz="3200" b="1">
                            <a:solidFill>
                              <a:srgbClr val="E8F0E8"/>
                            </a:solidFill>
                          </a:rPr>
                          <a:t>RESIDENCE</a:t>
                        </a:r>
                      </a:p>
                    </p:txBody>
                  </p:sp>
                </p:grpSp>
                <p:grpSp>
                  <p:nvGrpSpPr>
                    <p:cNvPr id="2" name="Group 1">
                      <a:extLst>
                        <a:ext uri="{FF2B5EF4-FFF2-40B4-BE49-F238E27FC236}">
                          <a16:creationId xmlns:a16="http://schemas.microsoft.com/office/drawing/2014/main" id="{6C9D1BBB-A67C-3F70-CBE9-E2CF409EA1B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987861" y="8014914"/>
                      <a:ext cx="9801556" cy="4196493"/>
                      <a:chOff x="32987861" y="8014914"/>
                      <a:chExt cx="9801556" cy="4196493"/>
                    </a:xfrm>
                  </p:grpSpPr>
                  <p:sp>
                    <p:nvSpPr>
                      <p:cNvPr id="61" name="TextBox 60">
                        <a:extLst>
                          <a:ext uri="{FF2B5EF4-FFF2-40B4-BE49-F238E27FC236}">
                            <a16:creationId xmlns:a16="http://schemas.microsoft.com/office/drawing/2014/main" id="{B4FE48E4-C6B3-7ECE-F41C-945904256BC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987861" y="8014914"/>
                        <a:ext cx="9801556" cy="147732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algn="ctr"/>
                        <a:r>
                          <a:rPr lang="en-US" sz="3600" b="1">
                            <a:solidFill>
                              <a:srgbClr val="2F5D3A"/>
                            </a:solidFill>
                            <a:ea typeface="+mn-lt"/>
                            <a:cs typeface="+mn-lt"/>
                          </a:rPr>
                          <a:t>Factors Associated with Appalachian Residence Among Young Suicide Decedents</a:t>
                        </a:r>
                        <a:endParaRPr lang="en-US" sz="3600">
                          <a:solidFill>
                            <a:srgbClr val="2F5D3A"/>
                          </a:solidFill>
                        </a:endParaRPr>
                      </a:p>
                      <a:p>
                        <a:pPr algn="l"/>
                        <a:endParaRPr lang="en-US"/>
                      </a:p>
                    </p:txBody>
                  </p:sp>
                  <p:cxnSp>
                    <p:nvCxnSpPr>
                      <p:cNvPr id="63" name="Straight Arrow Connector 62">
                        <a:extLst>
                          <a:ext uri="{FF2B5EF4-FFF2-40B4-BE49-F238E27FC236}">
                            <a16:creationId xmlns:a16="http://schemas.microsoft.com/office/drawing/2014/main" id="{00B9E04A-D024-A014-CC56-41E4592C6669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37491723" y="10607568"/>
                        <a:ext cx="1667357" cy="1603839"/>
                      </a:xfrm>
                      <a:prstGeom prst="straightConnector1">
                        <a:avLst/>
                      </a:prstGeom>
                      <a:ln w="57150">
                        <a:solidFill>
                          <a:srgbClr val="003262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64" name="Straight Arrow Connector 63">
                    <a:extLst>
                      <a:ext uri="{FF2B5EF4-FFF2-40B4-BE49-F238E27FC236}">
                        <a16:creationId xmlns:a16="http://schemas.microsoft.com/office/drawing/2014/main" id="{FEC8E9B8-0F54-F6CE-C9AD-F6FD2981F946}"/>
                      </a:ext>
                    </a:extLst>
                  </p:cNvPr>
                  <p:cNvCxnSpPr/>
                  <p:nvPr/>
                </p:nvCxnSpPr>
                <p:spPr>
                  <a:xfrm>
                    <a:off x="37475705" y="13545339"/>
                    <a:ext cx="1429163" cy="31759"/>
                  </a:xfrm>
                  <a:prstGeom prst="straightConnector1">
                    <a:avLst/>
                  </a:prstGeom>
                  <a:ln w="57150">
                    <a:solidFill>
                      <a:srgbClr val="B65F28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00346FD6-6EBA-4CE1-A443-097A6449B8E8}"/>
                  </a:ext>
                </a:extLst>
              </p:cNvPr>
              <p:cNvCxnSpPr/>
              <p:nvPr/>
            </p:nvCxnSpPr>
            <p:spPr>
              <a:xfrm flipV="1">
                <a:off x="37469915" y="14790214"/>
                <a:ext cx="1762956" cy="1508353"/>
              </a:xfrm>
              <a:prstGeom prst="straightConnector1">
                <a:avLst/>
              </a:prstGeom>
              <a:ln w="57150">
                <a:solidFill>
                  <a:srgbClr val="00326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B79B8E0-7A65-7778-9F02-0959063B0B69}"/>
              </a:ext>
            </a:extLst>
          </p:cNvPr>
          <p:cNvSpPr txBox="1"/>
          <p:nvPr/>
        </p:nvSpPr>
        <p:spPr>
          <a:xfrm>
            <a:off x="33078965" y="23900467"/>
            <a:ext cx="9141561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Georgia"/>
                <a:ea typeface="+mn-lt"/>
                <a:cs typeface="+mn-lt"/>
              </a:rPr>
              <a:t>Figure 2. Path diagram illustrating factors associated with Appalachian residence among young suicide decedents. </a:t>
            </a:r>
            <a:r>
              <a:rPr lang="en-US" sz="2000">
                <a:latin typeface="Georgia"/>
                <a:ea typeface="+mn-lt"/>
                <a:cs typeface="+mn-lt"/>
              </a:rPr>
              <a:t>Contextual characteristics and suicide methods were associated with increased odds of residing in Appalachia, while clinical characteristics were associated with decreased odds. Odds ratios and 95% confidence intervals are included.</a:t>
            </a:r>
            <a:endParaRPr lang="en-US" sz="2000">
              <a:latin typeface="Georgia"/>
            </a:endParaRPr>
          </a:p>
          <a:p>
            <a:pPr algn="l"/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B18876C-FA15-6E5B-3902-90DFDAB3C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406064"/>
              </p:ext>
            </p:extLst>
          </p:nvPr>
        </p:nvGraphicFramePr>
        <p:xfrm>
          <a:off x="33449341" y="8831078"/>
          <a:ext cx="9007466" cy="44209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03507">
                  <a:extLst>
                    <a:ext uri="{9D8B030D-6E8A-4147-A177-3AD203B41FA5}">
                      <a16:colId xmlns:a16="http://schemas.microsoft.com/office/drawing/2014/main" val="182794516"/>
                    </a:ext>
                  </a:extLst>
                </a:gridCol>
                <a:gridCol w="2601584">
                  <a:extLst>
                    <a:ext uri="{9D8B030D-6E8A-4147-A177-3AD203B41FA5}">
                      <a16:colId xmlns:a16="http://schemas.microsoft.com/office/drawing/2014/main" val="2423648662"/>
                    </a:ext>
                  </a:extLst>
                </a:gridCol>
                <a:gridCol w="2137015">
                  <a:extLst>
                    <a:ext uri="{9D8B030D-6E8A-4147-A177-3AD203B41FA5}">
                      <a16:colId xmlns:a16="http://schemas.microsoft.com/office/drawing/2014/main" val="2226423005"/>
                    </a:ext>
                  </a:extLst>
                </a:gridCol>
                <a:gridCol w="1765360">
                  <a:extLst>
                    <a:ext uri="{9D8B030D-6E8A-4147-A177-3AD203B41FA5}">
                      <a16:colId xmlns:a16="http://schemas.microsoft.com/office/drawing/2014/main" val="2310536268"/>
                    </a:ext>
                  </a:extLst>
                </a:gridCol>
              </a:tblGrid>
              <a:tr h="70869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b="1" u="sng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Characteristic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b="1" u="sng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Non-Appalachia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(N=16,384)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b="1" u="sng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Appalachia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(N=1,545)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b="1" u="sng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p-value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5094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Age, n (%)</a:t>
                      </a:r>
                      <a:endParaRPr lang="en-US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.892 </a:t>
                      </a:r>
                      <a:endParaRPr lang="en-US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748165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10-17 years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4,014 (24.5)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379 (24.5)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750806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18-24 years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12,370 (75.5)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1,166 (75.5)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376042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Sex, n (%)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.003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950809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Female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3,715 (22.7)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299 (19.4)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29776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Male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12,669 (77.3)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1,246 (80.6)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451216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Race/Ethnicity, n (%)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&lt;.001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713625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Non-Hispanic White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9,378 (57.2)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1,208 (78.2)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59840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Non-Hispanic Black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2,244 (13.7)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180 (11.7)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875465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Hispanic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2,988 (18.2)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93 (6.0)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590956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Other*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1,774 (10.9)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64 (4.1)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55230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EDCD9D7E-2A75-CE7A-23F3-D49E12B89338}"/>
              </a:ext>
            </a:extLst>
          </p:cNvPr>
          <p:cNvSpPr txBox="1"/>
          <p:nvPr/>
        </p:nvSpPr>
        <p:spPr>
          <a:xfrm>
            <a:off x="33250046" y="13357165"/>
            <a:ext cx="9826272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ptos"/>
                <a:cs typeface="Times New Roman"/>
              </a:rPr>
              <a:t>*Includes Non-Hispanic Asian, Non-Hispanic Two or More Races, and Other/Unknown.</a:t>
            </a:r>
            <a:endParaRPr lang="en-US" sz="2000">
              <a:latin typeface="Aptos"/>
            </a:endParaRPr>
          </a:p>
          <a:p>
            <a:pPr algn="l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C4C5B8-4169-C465-449A-B1F644573504}"/>
              </a:ext>
            </a:extLst>
          </p:cNvPr>
          <p:cNvSpPr txBox="1"/>
          <p:nvPr/>
        </p:nvSpPr>
        <p:spPr>
          <a:xfrm>
            <a:off x="32976753" y="7507057"/>
            <a:ext cx="977343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rgbClr val="2F5D3A"/>
                </a:solidFill>
                <a:latin typeface="Aptos"/>
                <a:cs typeface="Segoe UI"/>
              </a:rPr>
              <a:t>Table 1. Demographic Characteristics by Appalachian Residence</a:t>
            </a:r>
          </a:p>
          <a:p>
            <a:pPr algn="ctr"/>
            <a:endParaRPr lang="en-US" sz="3600" b="1">
              <a:cs typeface="Segoe UI"/>
            </a:endParaRPr>
          </a:p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1FD60B-2DE3-012E-C6E9-C804D7532DCE}"/>
              </a:ext>
            </a:extLst>
          </p:cNvPr>
          <p:cNvSpPr txBox="1"/>
          <p:nvPr/>
        </p:nvSpPr>
        <p:spPr>
          <a:xfrm>
            <a:off x="13413189" y="28801739"/>
            <a:ext cx="1773107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E8F0E8"/>
                </a:solidFill>
                <a:latin typeface="Georgia"/>
              </a:rPr>
              <a:t>Figure 1. Map of the Appalachian Region. Counties designated as Appalachian are highlighted in orange. The 423 counties span 13 states, and include the entirety of West Virginia.</a:t>
            </a:r>
            <a:endParaRPr lang="en-US" sz="3200">
              <a:solidFill>
                <a:srgbClr val="E8F0E8"/>
              </a:solidFill>
              <a:latin typeface="Georgia"/>
              <a:cs typeface="Segoe UI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8B80A1-5501-5146-A9F9-4151E581E604}"/>
              </a:ext>
            </a:extLst>
          </p:cNvPr>
          <p:cNvSpPr txBox="1"/>
          <p:nvPr/>
        </p:nvSpPr>
        <p:spPr>
          <a:xfrm>
            <a:off x="33093331" y="27050339"/>
            <a:ext cx="9493853" cy="68018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>
                <a:latin typeface="Georgia"/>
                <a:ea typeface="+mn-lt"/>
                <a:cs typeface="+mn-lt"/>
              </a:rPr>
              <a:t>Appalachian and non-Appalachian young suicide decedents differed across demographic, clinical, and contextual factors. </a:t>
            </a:r>
          </a:p>
          <a:p>
            <a:pPr marL="457200" indent="-457200">
              <a:buFont typeface="Arial"/>
              <a:buChar char="•"/>
            </a:pPr>
            <a:r>
              <a:rPr lang="en-US" sz="3200">
                <a:latin typeface="Georgia"/>
                <a:ea typeface="+mn-lt"/>
                <a:cs typeface="+mn-lt"/>
              </a:rPr>
              <a:t>Appalachian decedents were more likely to reside in nonmetro, socioeconomically vulnerable communities and less likely to have documented mental health concerns. </a:t>
            </a:r>
            <a:endParaRPr lang="en-US" sz="3200">
              <a:latin typeface="Georgia"/>
            </a:endParaRPr>
          </a:p>
          <a:p>
            <a:pPr marL="457200" indent="-457200">
              <a:buFont typeface="Arial"/>
              <a:buChar char="•"/>
            </a:pPr>
            <a:r>
              <a:rPr lang="en-US" sz="3200">
                <a:latin typeface="Georgia"/>
                <a:ea typeface="+mn-lt"/>
                <a:cs typeface="+mn-lt"/>
              </a:rPr>
              <a:t>Findings highlight the need to better understand regional influences on suicide to inform community-based prevention efforts.</a:t>
            </a:r>
          </a:p>
          <a:p>
            <a:endParaRPr lang="en-US" sz="3200">
              <a:latin typeface="Georgia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3200">
              <a:latin typeface="Georgi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latin typeface="Georgia"/>
            </a:endParaRPr>
          </a:p>
          <a:p>
            <a:pPr algn="l"/>
            <a:endParaRPr lang="en-US" sz="2400">
              <a:latin typeface="Georgi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12A062-C788-2501-A21E-52738B75374C}"/>
              </a:ext>
            </a:extLst>
          </p:cNvPr>
          <p:cNvSpPr txBox="1"/>
          <p:nvPr/>
        </p:nvSpPr>
        <p:spPr>
          <a:xfrm>
            <a:off x="38894470" y="4910726"/>
            <a:ext cx="739471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Segoe UI"/>
                <a:cs typeface="Segoe UI"/>
              </a:rPr>
              <a:t>The authors have no discloses to report.</a:t>
            </a:r>
            <a:r>
              <a:rPr lang="en-US" sz="1600">
                <a:latin typeface="Segoe UI"/>
                <a:cs typeface="Segoe UI"/>
              </a:rPr>
              <a:t> 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CF6133D-CE90-B8C0-6736-1984F5D6E052}"/>
              </a:ext>
            </a:extLst>
          </p:cNvPr>
          <p:cNvSpPr/>
          <p:nvPr/>
        </p:nvSpPr>
        <p:spPr>
          <a:xfrm>
            <a:off x="24024148" y="27987891"/>
            <a:ext cx="1788518" cy="873402"/>
          </a:xfrm>
          <a:prstGeom prst="roundRect">
            <a:avLst/>
          </a:prstGeom>
          <a:solidFill>
            <a:srgbClr val="2F5D3A"/>
          </a:solidFill>
          <a:ln>
            <a:solidFill>
              <a:srgbClr val="2F5D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98F76E-31B2-8DB8-5EAD-384D53536E0B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969264" y="18141696"/>
            <a:ext cx="10058400" cy="13664199"/>
          </a:xfrm>
          <a:prstGeom prst="rect">
            <a:avLst/>
          </a:prstGeom>
        </p:spPr>
      </p:pic>
      <p:pic>
        <p:nvPicPr>
          <p:cNvPr id="5" name="Picture 4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25872177-C435-D1F3-53DF-1173C3998824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9318871" y="30159531"/>
            <a:ext cx="1889637" cy="166841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737D270-AD00-851F-F560-064A834C1926}"/>
              </a:ext>
            </a:extLst>
          </p:cNvPr>
          <p:cNvSpPr txBox="1"/>
          <p:nvPr/>
        </p:nvSpPr>
        <p:spPr>
          <a:xfrm>
            <a:off x="27053208" y="30379935"/>
            <a:ext cx="225193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rgbClr val="E8F0E8"/>
                </a:solidFill>
                <a:latin typeface="Segoe UI"/>
                <a:cs typeface="Segoe UI"/>
              </a:rPr>
              <a:t>Scan the QR code for additional project information.</a:t>
            </a:r>
            <a:endParaRPr lang="en-US" sz="20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712869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ad94561-2496-4bdb-88e7-17358e9ed2e8}" enabled="1" method="Standard" siteId="{8f7d57a9-4988-4be2-b64f-97e297adcfe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62</cp:revision>
  <dcterms:created xsi:type="dcterms:W3CDTF">2026-09-14T16:26:05Z</dcterms:created>
  <dcterms:modified xsi:type="dcterms:W3CDTF">2026-10-05T18:36:48Z</dcterms:modified>
</cp:coreProperties>
</file>